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9"/>
                </a:solidFill>
                <a:latin typeface="+mn-lt"/>
              </a:rPr>
              <a:t>Waste by root cause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total waste (%)</c:v>
                </c:pt>
              </c:strCache>
            </c:strRef>
          </c:tx>
          <c:spPr>
            <a:solidFill>
              <a:srgbClr val="12A6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Over-preparation</c:v>
                  </c:pt>
                  <c:pt idx="1">
                    <c:v>Plate waste</c:v>
                  </c:pt>
                  <c:pt idx="2">
                    <c:v>Other causes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32</c:v>
                </c:pt>
                <c:pt idx="2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C5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lustration" descr="img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3" name="tag"/>
          <p:cNvSpPr/>
          <p:nvPr/>
        </p:nvSpPr>
        <p:spPr>
          <a:xfrm>
            <a:off x="731520" y="91440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914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 |  DAV LAB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7373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WASTE</a:t>
            </a:r>
            <a:endParaRPr lang="en-US" sz="5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6974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5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5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7033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Management System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572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regression and kitchen action protocols for large-scale dining facilities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943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[Name / Roll No. / Department]</a:t>
            </a:r>
            <a:endParaRPr lang="en-US" sz="15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Introduction</a:t>
            </a:r>
            <a:endParaRPr lang="en-US" sz="4000" dirty="0"/>
          </a:p>
        </p:txBody>
      </p:sp>
      <p:sp>
        <p:nvSpPr>
          <p:cNvPr id="3" name="stat"/>
          <p:cNvSpPr/>
          <p:nvPr/>
        </p:nvSpPr>
        <p:spPr>
          <a:xfrm>
            <a:off x="548640" y="14630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1.05 bn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832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of food wasted globally each year (UNEP). Institutional kitchens contribute over 26%.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5120640" y="1463040"/>
            <a:ext cx="6492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E9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badge"/>
          <p:cNvSpPr/>
          <p:nvPr/>
        </p:nvSpPr>
        <p:spPr>
          <a:xfrm>
            <a:off x="5349240" y="1828800"/>
            <a:ext cx="640080" cy="640080"/>
          </a:xfrm>
          <a:prstGeom prst="ellipse">
            <a:avLst/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492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6002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messes, canteens and hospital kitchens cook hundreds of kg daily under volatile demand.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5120640" y="3017520"/>
            <a:ext cx="6492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E9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badge"/>
          <p:cNvSpPr/>
          <p:nvPr/>
        </p:nvSpPr>
        <p:spPr>
          <a:xfrm>
            <a:off x="5349240" y="3383280"/>
            <a:ext cx="640080" cy="640080"/>
          </a:xfrm>
          <a:prstGeom prst="ellipse">
            <a:avLst/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924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1546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is guesswork, so over-preparation is chronic.</a:t>
            </a:r>
            <a:endParaRPr lang="en-US" sz="1700" dirty="0"/>
          </a:p>
        </p:txBody>
      </p:sp>
      <p:sp>
        <p:nvSpPr>
          <p:cNvPr id="14" name="card"/>
          <p:cNvSpPr/>
          <p:nvPr/>
        </p:nvSpPr>
        <p:spPr>
          <a:xfrm>
            <a:off x="5120640" y="4572000"/>
            <a:ext cx="6492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E9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badge"/>
          <p:cNvSpPr/>
          <p:nvPr/>
        </p:nvSpPr>
        <p:spPr>
          <a:xfrm>
            <a:off x="5349240" y="4937760"/>
            <a:ext cx="640080" cy="640080"/>
          </a:xfrm>
          <a:prstGeom prst="ellipse">
            <a:avLst/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47091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Prepared vs Served vs Wasted turns waste into a data problem we can optimise.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Problem Statement</a:t>
            </a:r>
            <a:endParaRPr lang="en-US" sz="40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6675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E9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"/>
          <p:cNvSpPr/>
          <p:nvPr/>
        </p:nvSpPr>
        <p:spPr>
          <a:xfrm>
            <a:off x="777240" y="1691640"/>
            <a:ext cx="822960" cy="822960"/>
          </a:xfrm>
          <a:prstGeom prst="ellipse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600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Volatile attendance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13055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Exams, holidays and weekends swing headcount; batch sizes stay fixed.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971800"/>
            <a:ext cx="6675120" cy="1371600"/>
          </a:xfrm>
          <a:prstGeom prst="roundRect">
            <a:avLst>
              <a:gd name="adj" fmla="val 8000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777240" y="3246120"/>
            <a:ext cx="822960" cy="822960"/>
          </a:xfrm>
          <a:prstGeom prst="ellipse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154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Over-preparation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68503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15–25% safety buffer guarantees daily leftovers.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548640" y="4526280"/>
            <a:ext cx="6675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E9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badge"/>
          <p:cNvSpPr/>
          <p:nvPr/>
        </p:nvSpPr>
        <p:spPr>
          <a:xfrm>
            <a:off x="777240" y="4800600"/>
            <a:ext cx="822960" cy="822960"/>
          </a:xfrm>
          <a:prstGeom prst="ellipse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800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4709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and climate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523951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₹45–80 lost per kg, 2.5 kg CO₂e per kg landfilled.</a:t>
            </a:r>
            <a:endParaRPr lang="en-US" sz="1600" dirty="0"/>
          </a:p>
        </p:txBody>
      </p:sp>
      <p:pic>
        <p:nvPicPr>
          <p:cNvPr id="18" name="illustration" descr="img/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417320"/>
            <a:ext cx="402336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Objectives</a:t>
            </a:r>
            <a:endParaRPr lang="en-US" sz="4000" dirty="0"/>
          </a:p>
        </p:txBody>
      </p:sp>
      <p:sp>
        <p:nvSpPr>
          <p:cNvPr id="3" name="obj"/>
          <p:cNvSpPr/>
          <p:nvPr/>
        </p:nvSpPr>
        <p:spPr>
          <a:xfrm>
            <a:off x="548640" y="1554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EDA by category, facility, meal and cause</a:t>
            </a:r>
            <a:endParaRPr lang="en-US" sz="1800" dirty="0"/>
          </a:p>
        </p:txBody>
      </p:sp>
      <p:sp>
        <p:nvSpPr>
          <p:cNvPr id="7" name="obj"/>
          <p:cNvSpPr/>
          <p:nvPr/>
        </p:nvSpPr>
        <p:spPr>
          <a:xfrm>
            <a:off x="4343400" y="1554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4617720" y="1828800"/>
            <a:ext cx="640080" cy="640080"/>
          </a:xfrm>
          <a:prstGeom prst="ellipse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outlier and anomaly detection</a:t>
            </a:r>
            <a:endParaRPr lang="en-US" sz="1800" dirty="0"/>
          </a:p>
        </p:txBody>
      </p:sp>
      <p:sp>
        <p:nvSpPr>
          <p:cNvPr id="11" name="obj"/>
          <p:cNvSpPr/>
          <p:nvPr/>
        </p:nvSpPr>
        <p:spPr>
          <a:xfrm>
            <a:off x="8138160" y="1554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8412480" y="1828800"/>
            <a:ext cx="640080" cy="640080"/>
          </a:xfrm>
          <a:prstGeom prst="ellipse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forecasting: MA, EWMA, ARIMA(1,1,1)</a:t>
            </a:r>
            <a:endParaRPr lang="en-US" sz="1800" dirty="0"/>
          </a:p>
        </p:txBody>
      </p:sp>
      <p:sp>
        <p:nvSpPr>
          <p:cNvPr id="15" name="obj"/>
          <p:cNvSpPr/>
          <p:nvPr/>
        </p:nvSpPr>
        <p:spPr>
          <a:xfrm>
            <a:off x="548640" y="38862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37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to quantify prep-to-waste sensitivity</a:t>
            </a:r>
            <a:endParaRPr lang="en-US" sz="1800" dirty="0"/>
          </a:p>
        </p:txBody>
      </p:sp>
      <p:sp>
        <p:nvSpPr>
          <p:cNvPr id="19" name="obj"/>
          <p:cNvSpPr/>
          <p:nvPr/>
        </p:nvSpPr>
        <p:spPr>
          <a:xfrm>
            <a:off x="4343400" y="38862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4617720" y="4160520"/>
            <a:ext cx="640080" cy="640080"/>
          </a:xfrm>
          <a:prstGeom prst="ellipse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937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 for 0–50% reduction targets</a:t>
            </a:r>
            <a:endParaRPr lang="en-US" sz="1800" dirty="0"/>
          </a:p>
        </p:txBody>
      </p:sp>
      <p:sp>
        <p:nvSpPr>
          <p:cNvPr id="23" name="obj"/>
          <p:cNvSpPr/>
          <p:nvPr/>
        </p:nvSpPr>
        <p:spPr>
          <a:xfrm>
            <a:off x="8138160" y="38862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8412480" y="4160520"/>
            <a:ext cx="640080" cy="640080"/>
          </a:xfrm>
          <a:prstGeom prst="ellipse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4937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priority kitchen protocols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Existing System</a:t>
            </a:r>
            <a:endParaRPr lang="en-US" sz="40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BFE9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paper registers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Excel archives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intuition sets quantity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438912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1BF"/>
          </a:solidFill>
          <a:ln w="12700">
            <a:solidFill>
              <a:srgbClr val="FFF1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2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377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reviewed weeks late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root-cause attribution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demand forecasting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Lakhs lost, no visibility</a:t>
            </a:r>
            <a:endParaRPr lang="en-US" sz="1700" dirty="0"/>
          </a:p>
        </p:txBody>
      </p:sp>
      <p:pic>
        <p:nvPicPr>
          <p:cNvPr id="9" name="illustration" descr="img/exis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463040"/>
            <a:ext cx="338328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Proposed System</a:t>
            </a:r>
            <a:endParaRPr lang="en-US" sz="40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E6F8EE"/>
          </a:solidFill>
          <a:ln w="12700">
            <a:solidFill>
              <a:srgbClr val="E6F8EE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77240" y="1545336"/>
            <a:ext cx="548640" cy="548640"/>
          </a:xfrm>
          <a:prstGeom prst="ellipse">
            <a:avLst/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45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1732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Mass-balance validation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417320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= Served + Wasted, enforced on every record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33172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FE9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adge"/>
          <p:cNvSpPr/>
          <p:nvPr/>
        </p:nvSpPr>
        <p:spPr>
          <a:xfrm>
            <a:off x="777240" y="2459736"/>
            <a:ext cx="548640" cy="548640"/>
          </a:xfrm>
          <a:prstGeom prst="ellipse">
            <a:avLst/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459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33172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dashboard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331720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kg, rate %, cost INR, meals, CO₂e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548640" y="324612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E6F8EE"/>
          </a:solidFill>
          <a:ln w="12700">
            <a:solidFill>
              <a:srgbClr val="E6F8EE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777240" y="3374136"/>
            <a:ext cx="548640" cy="548640"/>
          </a:xfrm>
          <a:prstGeom prst="ellipse">
            <a:avLst/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374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24612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suite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246120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average, EWMA, decomposition, 14-day ARIMA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548640" y="416052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FE9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badge"/>
          <p:cNvSpPr/>
          <p:nvPr/>
        </p:nvSpPr>
        <p:spPr>
          <a:xfrm>
            <a:off x="777240" y="4288536"/>
            <a:ext cx="548640" cy="548640"/>
          </a:xfrm>
          <a:prstGeom prst="ellipse">
            <a:avLst/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288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16052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+ what-if simulator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4160520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policy cuts, see projected savings</a:t>
            </a:r>
            <a:endParaRPr lang="en-US" sz="1600" dirty="0"/>
          </a:p>
        </p:txBody>
      </p:sp>
      <p:sp>
        <p:nvSpPr>
          <p:cNvPr id="23" name="card"/>
          <p:cNvSpPr/>
          <p:nvPr/>
        </p:nvSpPr>
        <p:spPr>
          <a:xfrm>
            <a:off x="548640" y="507492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E6F8EE"/>
          </a:solidFill>
          <a:ln w="12700">
            <a:solidFill>
              <a:srgbClr val="E6F8EE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777240" y="5202936"/>
            <a:ext cx="548640" cy="548640"/>
          </a:xfrm>
          <a:prstGeom prst="ellipse">
            <a:avLst/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202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07492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recommendations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5074920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Priority-ranked protocols with audit steps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System Architecture</a:t>
            </a:r>
            <a:endParaRPr lang="en-US" sz="4000" dirty="0"/>
          </a:p>
        </p:txBody>
      </p:sp>
      <p:sp>
        <p:nvSpPr>
          <p:cNvPr id="3" name="layer"/>
          <p:cNvSpPr/>
          <p:nvPr/>
        </p:nvSpPr>
        <p:spPr>
          <a:xfrm>
            <a:off x="548640" y="1828800"/>
            <a:ext cx="2423160" cy="3474720"/>
          </a:xfrm>
          <a:prstGeom prst="roundRect">
            <a:avLst>
              <a:gd name="adj" fmla="val 4528"/>
            </a:avLst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375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+ CSV ingestion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meal observations</a:t>
            </a:r>
            <a:endParaRPr lang="en-US" sz="1500" dirty="0"/>
          </a:p>
        </p:txBody>
      </p:sp>
      <p:sp>
        <p:nvSpPr>
          <p:cNvPr id="8" name="arrow"/>
          <p:cNvSpPr/>
          <p:nvPr/>
        </p:nvSpPr>
        <p:spPr>
          <a:xfrm>
            <a:off x="2999232" y="3383280"/>
            <a:ext cx="365760" cy="365760"/>
          </a:xfrm>
          <a:prstGeom prst="rightArrow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9" name="layer"/>
          <p:cNvSpPr/>
          <p:nvPr/>
        </p:nvSpPr>
        <p:spPr>
          <a:xfrm>
            <a:off x="3401568" y="1828800"/>
            <a:ext cx="2423160" cy="3474720"/>
          </a:xfrm>
          <a:prstGeom prst="roundRect">
            <a:avLst>
              <a:gd name="adj" fmla="val 4528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3630168" y="2057400"/>
            <a:ext cx="548640" cy="548640"/>
          </a:xfrm>
          <a:prstGeom prst="ellipse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016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33375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Mass-conservation checks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coercion, IQR anomaly profiler</a:t>
            </a:r>
            <a:endParaRPr lang="en-US" sz="1500" dirty="0"/>
          </a:p>
        </p:txBody>
      </p:sp>
      <p:sp>
        <p:nvSpPr>
          <p:cNvPr id="14" name="arrow"/>
          <p:cNvSpPr/>
          <p:nvPr/>
        </p:nvSpPr>
        <p:spPr>
          <a:xfrm>
            <a:off x="5852160" y="3383280"/>
            <a:ext cx="365760" cy="365760"/>
          </a:xfrm>
          <a:prstGeom prst="rightArrow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15" name="layer"/>
          <p:cNvSpPr/>
          <p:nvPr/>
        </p:nvSpPr>
        <p:spPr>
          <a:xfrm>
            <a:off x="6254496" y="1828800"/>
            <a:ext cx="2423160" cy="3474720"/>
          </a:xfrm>
          <a:prstGeom prst="roundRect">
            <a:avLst>
              <a:gd name="adj" fmla="val 4528"/>
            </a:avLst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6483096" y="2057400"/>
            <a:ext cx="548640" cy="548640"/>
          </a:xfrm>
          <a:prstGeom prst="ellipse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83096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+ ML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83096" y="33375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MA, EWMA, ARIMA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regression</a:t>
            </a:r>
            <a:endParaRPr lang="en-US" sz="1500" dirty="0"/>
          </a:p>
        </p:txBody>
      </p:sp>
      <p:sp>
        <p:nvSpPr>
          <p:cNvPr id="20" name="arrow"/>
          <p:cNvSpPr/>
          <p:nvPr/>
        </p:nvSpPr>
        <p:spPr>
          <a:xfrm>
            <a:off x="8705088" y="3383280"/>
            <a:ext cx="365760" cy="365760"/>
          </a:xfrm>
          <a:prstGeom prst="rightArrow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21" name="layer"/>
          <p:cNvSpPr/>
          <p:nvPr/>
        </p:nvSpPr>
        <p:spPr>
          <a:xfrm>
            <a:off x="9107424" y="1828800"/>
            <a:ext cx="2423160" cy="3474720"/>
          </a:xfrm>
          <a:prstGeom prst="roundRect">
            <a:avLst>
              <a:gd name="adj" fmla="val 4528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22" name="badge"/>
          <p:cNvSpPr/>
          <p:nvPr/>
        </p:nvSpPr>
        <p:spPr>
          <a:xfrm>
            <a:off x="9336024" y="2057400"/>
            <a:ext cx="548640" cy="548640"/>
          </a:xfrm>
          <a:prstGeom prst="ellipse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36024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36024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336024" y="33375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simulator, protocols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right: log, validate, analyse, decide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Technologies Used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2200" dirty="0"/>
          </a:p>
        </p:txBody>
      </p:sp>
      <p:sp>
        <p:nvSpPr>
          <p:cNvPr id="4" name="chip"/>
          <p:cNvSpPr/>
          <p:nvPr/>
        </p:nvSpPr>
        <p:spPr>
          <a:xfrm>
            <a:off x="548640" y="201168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700" dirty="0"/>
          </a:p>
        </p:txBody>
      </p:sp>
      <p:sp>
        <p:nvSpPr>
          <p:cNvPr id="6" name="chip"/>
          <p:cNvSpPr/>
          <p:nvPr/>
        </p:nvSpPr>
        <p:spPr>
          <a:xfrm>
            <a:off x="3383280" y="201168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700" dirty="0"/>
          </a:p>
        </p:txBody>
      </p:sp>
      <p:sp>
        <p:nvSpPr>
          <p:cNvPr id="8" name="chip"/>
          <p:cNvSpPr/>
          <p:nvPr/>
        </p:nvSpPr>
        <p:spPr>
          <a:xfrm>
            <a:off x="548640" y="301752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17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700" dirty="0"/>
          </a:p>
        </p:txBody>
      </p:sp>
      <p:sp>
        <p:nvSpPr>
          <p:cNvPr id="10" name="chip"/>
          <p:cNvSpPr/>
          <p:nvPr/>
        </p:nvSpPr>
        <p:spPr>
          <a:xfrm>
            <a:off x="3383280" y="301752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3017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700" dirty="0"/>
          </a:p>
        </p:txBody>
      </p:sp>
      <p:sp>
        <p:nvSpPr>
          <p:cNvPr id="12" name="chip"/>
          <p:cNvSpPr/>
          <p:nvPr/>
        </p:nvSpPr>
        <p:spPr>
          <a:xfrm>
            <a:off x="548640" y="402336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700" dirty="0"/>
          </a:p>
        </p:txBody>
      </p:sp>
      <p:sp>
        <p:nvSpPr>
          <p:cNvPr id="14" name="chip"/>
          <p:cNvSpPr/>
          <p:nvPr/>
        </p:nvSpPr>
        <p:spPr>
          <a:xfrm>
            <a:off x="3383280" y="402336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endParaRPr lang="en-US" sz="1700" dirty="0"/>
          </a:p>
        </p:txBody>
      </p:sp>
      <p:sp>
        <p:nvSpPr>
          <p:cNvPr id="16" name="chip"/>
          <p:cNvSpPr/>
          <p:nvPr/>
        </p:nvSpPr>
        <p:spPr>
          <a:xfrm>
            <a:off x="548640" y="502920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029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2200" dirty="0"/>
          </a:p>
        </p:txBody>
      </p:sp>
      <p:sp>
        <p:nvSpPr>
          <p:cNvPr id="19" name="card"/>
          <p:cNvSpPr/>
          <p:nvPr/>
        </p:nvSpPr>
        <p:spPr>
          <a:xfrm>
            <a:off x="6583680" y="2011680"/>
            <a:ext cx="5029200" cy="3749040"/>
          </a:xfrm>
          <a:prstGeom prst="roundRect">
            <a:avLst>
              <a:gd name="adj" fmla="val 2927"/>
            </a:avLst>
          </a:prstGeom>
          <a:solidFill>
            <a:srgbClr val="E6F8EE"/>
          </a:solidFill>
          <a:ln w="12700">
            <a:solidFill>
              <a:srgbClr val="E6F8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233172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i5 / Ryzen 5, quad-core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minimum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free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10/11, macOS, Ubuntu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Methodology</a:t>
            </a:r>
            <a:endParaRPr lang="en-US" sz="4000" dirty="0"/>
          </a:p>
        </p:txBody>
      </p:sp>
      <p:sp>
        <p:nvSpPr>
          <p:cNvPr id="3" name="track"/>
          <p:cNvSpPr/>
          <p:nvPr/>
        </p:nvSpPr>
        <p:spPr>
          <a:xfrm>
            <a:off x="1371600" y="2331720"/>
            <a:ext cx="9418320" cy="0"/>
          </a:xfrm>
          <a:prstGeom prst="line">
            <a:avLst/>
          </a:prstGeom>
          <a:noFill/>
          <a:ln w="38100">
            <a:solidFill>
              <a:srgbClr val="BFE9D3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1371600" y="1920240"/>
            <a:ext cx="822960" cy="822960"/>
          </a:xfrm>
          <a:prstGeom prst="ellipse">
            <a:avLst/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card"/>
          <p:cNvSpPr/>
          <p:nvPr/>
        </p:nvSpPr>
        <p:spPr>
          <a:xfrm>
            <a:off x="548640" y="30175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FE9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+ validate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9319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420 logs, enforce Prepared = Served + Wasted</a:t>
            </a:r>
            <a:endParaRPr lang="en-US" sz="1600" dirty="0"/>
          </a:p>
        </p:txBody>
      </p:sp>
      <p:sp>
        <p:nvSpPr>
          <p:cNvPr id="9" name="badge"/>
          <p:cNvSpPr/>
          <p:nvPr/>
        </p:nvSpPr>
        <p:spPr>
          <a:xfrm>
            <a:off x="4224528" y="1920240"/>
            <a:ext cx="822960" cy="822960"/>
          </a:xfrm>
          <a:prstGeom prst="ellipse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24528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card"/>
          <p:cNvSpPr/>
          <p:nvPr/>
        </p:nvSpPr>
        <p:spPr>
          <a:xfrm>
            <a:off x="3401568" y="30175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FE9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30168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+ detect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39319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categories, IQR outlier days</a:t>
            </a:r>
            <a:endParaRPr lang="en-US" sz="1600" dirty="0"/>
          </a:p>
        </p:txBody>
      </p:sp>
      <p:sp>
        <p:nvSpPr>
          <p:cNvPr id="14" name="badge"/>
          <p:cNvSpPr/>
          <p:nvPr/>
        </p:nvSpPr>
        <p:spPr>
          <a:xfrm>
            <a:off x="7077456" y="1920240"/>
            <a:ext cx="822960" cy="822960"/>
          </a:xfrm>
          <a:prstGeom prst="ellipse">
            <a:avLst/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77456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card"/>
          <p:cNvSpPr/>
          <p:nvPr/>
        </p:nvSpPr>
        <p:spPr>
          <a:xfrm>
            <a:off x="6254496" y="30175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FE9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83096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39319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MA, EWMA α=0.30, decomposition, ARIMA 14-day</a:t>
            </a:r>
            <a:endParaRPr lang="en-US" sz="1600" dirty="0"/>
          </a:p>
        </p:txBody>
      </p:sp>
      <p:sp>
        <p:nvSpPr>
          <p:cNvPr id="19" name="badge"/>
          <p:cNvSpPr/>
          <p:nvPr/>
        </p:nvSpPr>
        <p:spPr>
          <a:xfrm>
            <a:off x="9930384" y="1920240"/>
            <a:ext cx="822960" cy="822960"/>
          </a:xfrm>
          <a:prstGeom prst="ellipse">
            <a:avLst/>
          </a:prstGeom>
          <a:solidFill>
            <a:srgbClr val="FF5B4D"/>
          </a:solidFill>
          <a:ln w="12700">
            <a:solidFill>
              <a:srgbClr val="FF5B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30384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card"/>
          <p:cNvSpPr/>
          <p:nvPr/>
        </p:nvSpPr>
        <p:spPr>
          <a:xfrm>
            <a:off x="9107424" y="30175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FE9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336024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+ simulate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336024" y="39319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regression, what-if engine, 6 protocols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Implementation / Screenshots</a:t>
            </a:r>
            <a:endParaRPr lang="en-US" sz="40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E6F8EE"/>
          </a:solidFill>
          <a:ln w="12700">
            <a:solidFill>
              <a:srgbClr val="E6F8EE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17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Hub: KPIs and charts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548640" y="2167128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BFE9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badge"/>
          <p:cNvSpPr/>
          <p:nvPr/>
        </p:nvSpPr>
        <p:spPr>
          <a:xfrm>
            <a:off x="685800" y="2258568"/>
            <a:ext cx="457200" cy="457200"/>
          </a:xfrm>
          <a:prstGeom prst="ellipse">
            <a:avLst/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671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and recipe analytics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548640" y="2916936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E6F8EE"/>
          </a:solidFill>
          <a:ln w="12700">
            <a:solidFill>
              <a:srgbClr val="E6F8EE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685800" y="3008376"/>
            <a:ext cx="457200" cy="457200"/>
          </a:xfrm>
          <a:prstGeom prst="ellipse">
            <a:avLst/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91693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548640" y="3666744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BFE9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badge"/>
          <p:cNvSpPr/>
          <p:nvPr/>
        </p:nvSpPr>
        <p:spPr>
          <a:xfrm>
            <a:off x="685800" y="3758184"/>
            <a:ext cx="457200" cy="457200"/>
          </a:xfrm>
          <a:prstGeom prst="ellipse">
            <a:avLst/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66674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portion simulator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548640" y="4416552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E6F8EE"/>
          </a:solidFill>
          <a:ln w="12700">
            <a:solidFill>
              <a:srgbClr val="E6F8EE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685800" y="4507992"/>
            <a:ext cx="457200" cy="457200"/>
          </a:xfrm>
          <a:prstGeom prst="ellipse">
            <a:avLst/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4165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recommendations</a:t>
            </a:r>
            <a:endParaRPr lang="en-US" sz="1600" dirty="0"/>
          </a:p>
        </p:txBody>
      </p:sp>
      <p:sp>
        <p:nvSpPr>
          <p:cNvPr id="23" name="card"/>
          <p:cNvSpPr/>
          <p:nvPr/>
        </p:nvSpPr>
        <p:spPr>
          <a:xfrm>
            <a:off x="548640" y="5166360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BFE9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badge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166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observation terminal</a:t>
            </a:r>
            <a:endParaRPr lang="en-US" sz="1600" dirty="0"/>
          </a:p>
        </p:txBody>
      </p:sp>
      <p:pic>
        <p:nvPicPr>
          <p:cNvPr id="27" name="dash preview" descr="img/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417320"/>
            <a:ext cx="2743200" cy="4389120"/>
          </a:xfrm>
          <a:prstGeom prst="rect">
            <a:avLst/>
          </a:prstGeom>
        </p:spPr>
      </p:pic>
      <p:pic>
        <p:nvPicPr>
          <p:cNvPr id="28" name="forecast preview" descr="img/f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417320"/>
            <a:ext cx="2743200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Results and Discussion</a:t>
            </a:r>
            <a:endParaRPr lang="en-US" sz="4000" dirty="0"/>
          </a:p>
        </p:txBody>
      </p:sp>
      <p:sp>
        <p:nvSpPr>
          <p:cNvPr id="3" name="stat"/>
          <p:cNvSpPr/>
          <p:nvPr/>
        </p:nvSpPr>
        <p:spPr>
          <a:xfrm>
            <a:off x="548640" y="13716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15.2%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rate (7,800+ of 51,000+ kg)</a:t>
            </a:r>
            <a:endParaRPr lang="en-US" sz="1300" dirty="0"/>
          </a:p>
        </p:txBody>
      </p:sp>
      <p:sp>
        <p:nvSpPr>
          <p:cNvPr id="6" name="stat"/>
          <p:cNvSpPr/>
          <p:nvPr/>
        </p:nvSpPr>
        <p:spPr>
          <a:xfrm>
            <a:off x="3401568" y="13716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4448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₹4.68 L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584448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cost wasted</a:t>
            </a:r>
            <a:endParaRPr lang="en-US" sz="1300" dirty="0"/>
          </a:p>
        </p:txBody>
      </p:sp>
      <p:sp>
        <p:nvSpPr>
          <p:cNvPr id="9" name="stat"/>
          <p:cNvSpPr/>
          <p:nvPr/>
        </p:nvSpPr>
        <p:spPr>
          <a:xfrm>
            <a:off x="6254496" y="13716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37376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0.689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437376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vs waste correlation</a:t>
            </a:r>
            <a:endParaRPr lang="en-US" sz="1300" dirty="0"/>
          </a:p>
        </p:txBody>
      </p:sp>
      <p:sp>
        <p:nvSpPr>
          <p:cNvPr id="12" name="stat"/>
          <p:cNvSpPr/>
          <p:nvPr/>
        </p:nvSpPr>
        <p:spPr>
          <a:xfrm>
            <a:off x="9107424" y="13716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90304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0.474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290304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fit, RMSE 12.3 kg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3200400"/>
          <a:ext cx="5669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card"/>
          <p:cNvSpPr/>
          <p:nvPr/>
        </p:nvSpPr>
        <p:spPr>
          <a:xfrm>
            <a:off x="6583680" y="3200400"/>
            <a:ext cx="5029200" cy="3017520"/>
          </a:xfrm>
          <a:prstGeom prst="roundRect">
            <a:avLst>
              <a:gd name="adj" fmla="val 3636"/>
            </a:avLst>
          </a:prstGeom>
          <a:solidFill>
            <a:srgbClr val="E6F8EE"/>
          </a:solidFill>
          <a:ln w="12700">
            <a:solidFill>
              <a:srgbClr val="E6F8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0" y="347472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(24.4%) and Bread (17.3%) cause 41.7% of loss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100 kg cooked adds ~15 kg waste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Mess is highest at 2,355 kg, driven by weekend anomaly days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Advantages and Applications</a:t>
            </a:r>
            <a:endParaRPr lang="en-US" sz="40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FE9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7744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data into ready kitchen actions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demand before cooking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waste reduction target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CO₂e and meals saved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hardware cost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6217920" y="146304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E6F8EE"/>
          </a:solidFill>
          <a:ln w="12700">
            <a:solidFill>
              <a:srgbClr val="E6F8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37744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and hostel messes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cafeterias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kitchens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catering and banquets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food donation to NGOs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 Conclusion and Future Scope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analytics system for institutional food waste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Over-preparation (48%) and Rice/Bread (41.7%) are the main failure points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plus regression gives a path to 15–25% reduction</a:t>
            </a:r>
            <a:endParaRPr lang="en-US" sz="1800" dirty="0"/>
          </a:p>
        </p:txBody>
      </p:sp>
      <p:pic>
        <p:nvPicPr>
          <p:cNvPr id="5" name="illustration" descr="img/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97680"/>
            <a:ext cx="5303520" cy="1920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0" y="1463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7" name="chip"/>
          <p:cNvSpPr/>
          <p:nvPr/>
        </p:nvSpPr>
        <p:spPr>
          <a:xfrm>
            <a:off x="6400800" y="210312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21031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smart load-cell bins</a:t>
            </a:r>
            <a:endParaRPr lang="en-US" sz="1700" dirty="0"/>
          </a:p>
        </p:txBody>
      </p:sp>
      <p:sp>
        <p:nvSpPr>
          <p:cNvPr id="9" name="chip"/>
          <p:cNvSpPr/>
          <p:nvPr/>
        </p:nvSpPr>
        <p:spPr>
          <a:xfrm>
            <a:off x="6400800" y="301752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75120" y="3017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tray scanners</a:t>
            </a:r>
            <a:endParaRPr lang="en-US" sz="1700" dirty="0"/>
          </a:p>
        </p:txBody>
      </p:sp>
      <p:sp>
        <p:nvSpPr>
          <p:cNvPr id="11" name="chip"/>
          <p:cNvSpPr/>
          <p:nvPr/>
        </p:nvSpPr>
        <p:spPr>
          <a:xfrm>
            <a:off x="6400800" y="393192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0" y="3931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Turnstile data for prep planning</a:t>
            </a:r>
            <a:endParaRPr lang="en-US" sz="1700" dirty="0"/>
          </a:p>
        </p:txBody>
      </p:sp>
      <p:sp>
        <p:nvSpPr>
          <p:cNvPr id="13" name="chip"/>
          <p:cNvSpPr/>
          <p:nvPr/>
        </p:nvSpPr>
        <p:spPr>
          <a:xfrm>
            <a:off x="6400800" y="484632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12A66A"/>
          </a:solidFill>
          <a:ln w="12700">
            <a:solidFill>
              <a:srgbClr val="12A6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75120" y="48463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NGO dispatch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Waste Analytics and Management System</dc:title>
  <dc:subject>PptxGenJS Presentation</dc:subject>
  <dc:creator>PptxGenJS</dc:creator>
  <cp:lastModifiedBy>PptxGenJS</cp:lastModifiedBy>
  <cp:revision>1</cp:revision>
  <dcterms:created xsi:type="dcterms:W3CDTF">2026-10-27T04:01:09Z</dcterms:created>
  <dcterms:modified xsi:type="dcterms:W3CDTF">2026-10-27T04:01:09Z</dcterms:modified>
</cp:coreProperties>
</file>