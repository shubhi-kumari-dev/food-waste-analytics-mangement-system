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0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" y="914400"/>
            <a:ext cx="9997135" cy="5029200"/>
          </a:xfrm>
          <a:prstGeom prst="roundRect">
            <a:avLst/>
          </a:prstGeom>
          <a:solidFill>
            <a:srgbClr val="1B1511"/>
          </a:solidFill>
          <a:ln w="19050">
            <a:solidFill>
              <a:srgbClr val="3D2D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645920" y="1371600"/>
            <a:ext cx="4389120" cy="347472"/>
          </a:xfrm>
          <a:prstGeom prst="roundRect">
            <a:avLst/>
          </a:prstGeom>
          <a:solidFill>
            <a:srgbClr val="2C2018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EA580C"/>
                </a:solidFill>
              </a:rPr>
              <a:t>✦ DATA ANALYTICS &amp; VISUALIZATION (DAV) LAB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920240"/>
            <a:ext cx="8961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DF5ED"/>
                </a:solidFill>
              </a:rPr>
              <a:t>Food Waste Analytics &amp;
Management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3291840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BFAFA2"/>
                </a:solidFill>
              </a:rPr>
              <a:t>Operational Intelligence, Econometric Forecasting &amp; Menu Optimization for Large-Scale Dining Facilities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645920" y="4114800"/>
            <a:ext cx="8869680" cy="1371600"/>
          </a:xfrm>
          <a:prstGeom prst="roundRect">
            <a:avLst/>
          </a:prstGeom>
          <a:solidFill>
            <a:srgbClr val="221A15"/>
          </a:solidFill>
          <a:ln>
            <a:solidFill>
              <a:srgbClr val="3D2D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100">
                <a:solidFill>
                  <a:srgbClr val="EA580C"/>
                </a:solidFill>
              </a:rPr>
              <a:t>Project Domain: Data Analytics &amp; Computational Sustainability
</a:t>
            </a:r>
          </a:p>
          <a:p>
            <a:r>
              <a:rPr sz="1000">
                <a:solidFill>
                  <a:srgbClr val="BFAFA2"/>
                </a:solidFill>
              </a:rPr>
              <a:t>• Technology Stack: Python, Streamlit, Plotly, Pandas, NumPy, Scikit-Learn, Statsmodels (ARIMA), SQLite
• Evaluation Criteria: EDA, Outlier Profiling, Time-Series Smoothing, Regression Modeling &amp; Decision Support
• Presenter: [Student Name / Group Members] | Department of Computer Science &amp;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3474720" cy="292608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  <a:r>
              <a:rPr sz="900" b="1">
                <a:solidFill>
                  <a:srgbClr val="EA580C"/>
                </a:solidFill>
              </a:rPr>
              <a:t>SECTION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100" b="1">
                <a:solidFill>
                  <a:srgbClr val="2A1B10"/>
                </a:solidFill>
              </a:rPr>
              <a:t>1. 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>
                <a:solidFill>
                  <a:srgbClr val="6B5746"/>
                </a:solidFill>
              </a:rPr>
              <a:t>Context, background, and the critical need for food waste analytics in dining facilities.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33832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783080"/>
            <a:ext cx="3383280" cy="7315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6596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2A1B10"/>
                </a:solidFill>
              </a:rPr>
              <a:t>Global &amp; Institutional Context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EA580C"/>
                </a:solidFill>
              </a:rPr>
              <a:t>• Magnitude of Food Loss: </a:t>
            </a:r>
            <a:r>
              <a:rPr sz="950">
                <a:solidFill>
                  <a:srgbClr val="6B5746"/>
                </a:solidFill>
              </a:rPr>
              <a:t>According to the UN UNEP Food Waste Index, approximately 1.05 billion tonnes of food is wasted globally each year, with institutional food services contributing over 26%.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EA580C"/>
                </a:solidFill>
              </a:rPr>
              <a:t>• Campus &amp; Canteen Footprint: </a:t>
            </a:r>
            <a:r>
              <a:rPr sz="950">
                <a:solidFill>
                  <a:srgbClr val="6B5746"/>
                </a:solidFill>
              </a:rPr>
              <a:t>Institutional dining halls (hostel messes, university canteens, corporate cafeterias) handle hundreds of kilograms of perishable inventory daily with high variance.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EA580C"/>
                </a:solidFill>
              </a:rPr>
              <a:t>• Triple Bottom Line Impact: </a:t>
            </a:r>
            <a:r>
              <a:rPr sz="950">
                <a:solidFill>
                  <a:srgbClr val="6B5746"/>
                </a:solidFill>
              </a:rPr>
              <a:t>Food waste represents a severe economic drain, high greenhouse gas emissions (methane and CO₂), and discarded edible meals.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783080"/>
            <a:ext cx="33832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783080"/>
            <a:ext cx="338328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96596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2A1B10"/>
                </a:solidFill>
              </a:rPr>
              <a:t>The Role of Data Analytics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D97706"/>
                </a:solidFill>
              </a:rPr>
              <a:t>• Transition from Guesswork: </a:t>
            </a:r>
            <a:r>
              <a:rPr sz="950">
                <a:solidFill>
                  <a:srgbClr val="6B5746"/>
                </a:solidFill>
              </a:rPr>
              <a:t>Traditional kitchen planning relies on subjective estimations, leading to chronic over-preparation to prevent stockouts.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D97706"/>
                </a:solidFill>
              </a:rPr>
              <a:t>• Data as an Operational Asset: </a:t>
            </a:r>
            <a:r>
              <a:rPr sz="950">
                <a:solidFill>
                  <a:srgbClr val="6B5746"/>
                </a:solidFill>
              </a:rPr>
              <a:t>By tracking meal-by-meal prepared vs served volumes, facilities can identify hidden inefficiencies, cyclical patterns, and food category vulnerabilities.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D97706"/>
                </a:solidFill>
              </a:rPr>
              <a:t>• Modern Visual Intelligence: </a:t>
            </a:r>
            <a:r>
              <a:rPr sz="950">
                <a:solidFill>
                  <a:srgbClr val="6B5746"/>
                </a:solidFill>
              </a:rPr>
              <a:t>Interactive analytics platforms empower kitchen supervisors with actionable diagnostic metrics rather than static retrospective logs.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783080"/>
            <a:ext cx="33832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783080"/>
            <a:ext cx="3383280" cy="73152"/>
          </a:xfrm>
          <a:prstGeom prst="rect">
            <a:avLst/>
          </a:prstGeom>
          <a:solidFill>
            <a:srgbClr val="7C2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96596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2A1B10"/>
                </a:solidFill>
              </a:rPr>
              <a:t>Project Motivation &amp; Scope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7C2D12"/>
                </a:solidFill>
              </a:rPr>
              <a:t>• Core Focus: </a:t>
            </a:r>
            <a:r>
              <a:rPr sz="950">
                <a:solidFill>
                  <a:srgbClr val="6B5746"/>
                </a:solidFill>
              </a:rPr>
              <a:t>Developing an end-to-end analytics dashboard covering data ingestion, statistical profiling, time-series forecasting, and simulation.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7C2D12"/>
                </a:solidFill>
              </a:rPr>
              <a:t>• Multi-Facility Tracking: </a:t>
            </a:r>
            <a:r>
              <a:rPr sz="950">
                <a:solidFill>
                  <a:srgbClr val="6B5746"/>
                </a:solidFill>
              </a:rPr>
              <a:t>Benchmarking across Hostel Mess, Central Canteen, Faculty Restaurant, and Event Catering over a 6-month timeline.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7C2D12"/>
                </a:solidFill>
              </a:rPr>
              <a:t>• Closing the Loop: </a:t>
            </a:r>
            <a:r>
              <a:rPr sz="950">
                <a:solidFill>
                  <a:srgbClr val="6B5746"/>
                </a:solidFill>
              </a:rPr>
              <a:t>Moving beyond passive reporting into algorithmic, prioritized kitchen action recommendations.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3474720" cy="292608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  <a:r>
              <a:rPr sz="900" b="1">
                <a:solidFill>
                  <a:srgbClr val="EA580C"/>
                </a:solidFill>
              </a:rPr>
              <a:t>SECTION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100" b="1">
                <a:solidFill>
                  <a:srgbClr val="2A1B10"/>
                </a:solidFill>
              </a:rPr>
              <a:t>2. Problem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>
                <a:solidFill>
                  <a:srgbClr val="6B5746"/>
                </a:solidFill>
              </a:rPr>
              <a:t>Core operational vulnerabilities, financial drains, and ecological challenges in dining facilities.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33832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783080"/>
            <a:ext cx="3383280" cy="731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6596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2A1B10"/>
                </a:solidFill>
              </a:rPr>
              <a:t>Operational Blindspots &amp; Volatility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DC2626"/>
                </a:solidFill>
              </a:rPr>
              <a:t>• Diner Headcount Fluctuations: </a:t>
            </a:r>
            <a:r>
              <a:rPr sz="950">
                <a:solidFill>
                  <a:srgbClr val="6B5746"/>
                </a:solidFill>
              </a:rPr>
              <a:t>Student and diner attendance varies wildly due to exam schedules, weekend leave, festivals, and weather, causing massive forecast errors.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DC2626"/>
                </a:solidFill>
              </a:rPr>
              <a:t>• Fixed Batch-Cooking Mandates: </a:t>
            </a:r>
            <a:r>
              <a:rPr sz="950">
                <a:solidFill>
                  <a:srgbClr val="6B5746"/>
                </a:solidFill>
              </a:rPr>
              <a:t>Chefs cook in large, uncalibrated batch sizes (e.g. 50–100 kg pots) without real-time attendance signals, guaranteeing leftover surplus.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DC2626"/>
                </a:solidFill>
              </a:rPr>
              <a:t>• Lack of Feedback Mechanism: </a:t>
            </a:r>
            <a:r>
              <a:rPr sz="950">
                <a:solidFill>
                  <a:srgbClr val="6B5746"/>
                </a:solidFill>
              </a:rPr>
              <a:t>Waste data is rarely logged or analyzed systematically, leaving kitchen supervisors blind to recurring structural failure points.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783080"/>
            <a:ext cx="33832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783080"/>
            <a:ext cx="3383280" cy="7315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96596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2A1B10"/>
                </a:solidFill>
              </a:rPr>
              <a:t>Severe Economic &amp; Environmental Drain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EA580C"/>
                </a:solidFill>
              </a:rPr>
              <a:t>• Direct Financial Losses: </a:t>
            </a:r>
            <a:r>
              <a:rPr sz="950">
                <a:solidFill>
                  <a:srgbClr val="6B5746"/>
                </a:solidFill>
              </a:rPr>
              <a:t>Commercial dining incurs ₹45–₹80 per kg in unrecoverable raw ingredient expenditure, leading to lakhs in preventable recurring losses.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EA580C"/>
                </a:solidFill>
              </a:rPr>
              <a:t>• Carbon &amp; Ecological Footprint: </a:t>
            </a:r>
            <a:r>
              <a:rPr sz="950">
                <a:solidFill>
                  <a:srgbClr val="6B5746"/>
                </a:solidFill>
              </a:rPr>
              <a:t>Every kg of discarded food produces approximately 2.5 kg CO₂e in greenhouse gas emissions during decomposition in landfills.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EA580C"/>
                </a:solidFill>
              </a:rPr>
              <a:t>• Social Inefficiency: </a:t>
            </a:r>
            <a:r>
              <a:rPr sz="950">
                <a:solidFill>
                  <a:srgbClr val="6B5746"/>
                </a:solidFill>
              </a:rPr>
              <a:t>Nutritious, edible meals are discarded while campus sustainability targets and social food redistribution goals remain unmet.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783080"/>
            <a:ext cx="33832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783080"/>
            <a:ext cx="3383280" cy="73152"/>
          </a:xfrm>
          <a:prstGeom prst="rect">
            <a:avLst/>
          </a:prstGeom>
          <a:solidFill>
            <a:srgbClr val="7C2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96596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2A1B10"/>
                </a:solidFill>
              </a:rPr>
              <a:t>The Analytical Problem to Solve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7C2D12"/>
                </a:solidFill>
              </a:rPr>
              <a:t>• Over-Preparation Sensitivity: </a:t>
            </a:r>
            <a:r>
              <a:rPr sz="950">
                <a:solidFill>
                  <a:srgbClr val="6B5746"/>
                </a:solidFill>
              </a:rPr>
              <a:t>How does preparation volume mathematically correlate with waste volume, and where is the critical tipping point?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7C2D12"/>
                </a:solidFill>
              </a:rPr>
              <a:t>• Temporal Dependency: </a:t>
            </a:r>
            <a:r>
              <a:rPr sz="950">
                <a:solidFill>
                  <a:srgbClr val="6B5746"/>
                </a:solidFill>
              </a:rPr>
              <a:t>Can multi-week trend smoothing and 7-day cyclical seasonal patterns accurately forecast demand 14 days in advance?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7C2D12"/>
                </a:solidFill>
              </a:rPr>
              <a:t>• Actionability Gap: </a:t>
            </a:r>
            <a:r>
              <a:rPr sz="950">
                <a:solidFill>
                  <a:srgbClr val="6B5746"/>
                </a:solidFill>
              </a:rPr>
              <a:t>How can predictive insights be translated into simple, automated operational protocols for non-technical kitchen staff?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3474720" cy="292608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  <a:r>
              <a:rPr sz="900" b="1">
                <a:solidFill>
                  <a:srgbClr val="EA580C"/>
                </a:solidFill>
              </a:rPr>
              <a:t>SECTION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100" b="1">
                <a:solidFill>
                  <a:srgbClr val="2A1B10"/>
                </a:solidFill>
              </a:rPr>
              <a:t>3. Project 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>
                <a:solidFill>
                  <a:srgbClr val="6B5746"/>
                </a:solidFill>
              </a:rPr>
              <a:t>Strategic, analytical, and practical milestones of the Food Waste Management System.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33832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783080"/>
            <a:ext cx="3383280" cy="7315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6596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2A1B10"/>
                </a:solidFill>
              </a:rPr>
              <a:t>Primary Analytical Goals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EA580C"/>
                </a:solidFill>
              </a:rPr>
              <a:t>1. Multi-Dimensional EDA: </a:t>
            </a:r>
            <a:r>
              <a:rPr sz="950">
                <a:solidFill>
                  <a:srgbClr val="6B5746"/>
                </a:solidFill>
              </a:rPr>
              <a:t>Perform comprehensive exploratory data analysis across food categories, dining facilities, meal types, and root causes of loss.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EA580C"/>
                </a:solidFill>
              </a:rPr>
              <a:t>2. Statistical Outlier Profiling: </a:t>
            </a:r>
            <a:r>
              <a:rPr sz="950">
                <a:solidFill>
                  <a:srgbClr val="6B5746"/>
                </a:solidFill>
              </a:rPr>
              <a:t>Deploy Interquartile Range (IQR) boundary checks to detect and profile operational anomaly days exceeding +2σ variation.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EA580C"/>
                </a:solidFill>
              </a:rPr>
              <a:t>3. Econometric Time-Series Analysis: </a:t>
            </a:r>
            <a:r>
              <a:rPr sz="950">
                <a:solidFill>
                  <a:srgbClr val="6B5746"/>
                </a:solidFill>
              </a:rPr>
              <a:t>Implement 7-day Moving Averages, Exponential Smoothing (EWMA), Seasonal Decomposition, and ARIMA(1,1,1) for predictive demand forecasting.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783080"/>
            <a:ext cx="33832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783080"/>
            <a:ext cx="338328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96596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2A1B10"/>
                </a:solidFill>
              </a:rPr>
              <a:t>Computational &amp; ML Objectives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D97706"/>
                </a:solidFill>
              </a:rPr>
              <a:t>4. Regression Sensitivity Modeling: </a:t>
            </a:r>
            <a:r>
              <a:rPr sz="950">
                <a:solidFill>
                  <a:srgbClr val="6B5746"/>
                </a:solidFill>
              </a:rPr>
              <a:t>Formulate Scikit-Learn linear regression models to determine the mathematical relationship between food prepared and food wasted.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D97706"/>
                </a:solidFill>
              </a:rPr>
              <a:t>5. Interactive What-If Simulator: </a:t>
            </a:r>
            <a:r>
              <a:rPr sz="950">
                <a:solidFill>
                  <a:srgbClr val="6B5746"/>
                </a:solidFill>
              </a:rPr>
              <a:t>Develop a real-time scenario simulation engine enabling managers to model 0–50% prep and plate reduction targets.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D97706"/>
                </a:solidFill>
              </a:rPr>
              <a:t>6. Quantified Impact Tracking: </a:t>
            </a:r>
            <a:r>
              <a:rPr sz="950">
                <a:solidFill>
                  <a:srgbClr val="6B5746"/>
                </a:solidFill>
              </a:rPr>
              <a:t>Automatically compute projected food rescued (kg), cost savings (INR), meals preserved, and carbon abatement (kg CO₂e).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783080"/>
            <a:ext cx="33832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783080"/>
            <a:ext cx="3383280" cy="73152"/>
          </a:xfrm>
          <a:prstGeom prst="rect">
            <a:avLst/>
          </a:prstGeom>
          <a:solidFill>
            <a:srgbClr val="7C2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96596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2A1B10"/>
                </a:solidFill>
              </a:rPr>
              <a:t>Operational &amp; UI Deliverables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7C2D12"/>
                </a:solidFill>
              </a:rPr>
              <a:t>7. Decision Support Protocol Engine: </a:t>
            </a:r>
            <a:r>
              <a:rPr sz="950">
                <a:solidFill>
                  <a:srgbClr val="6B5746"/>
                </a:solidFill>
              </a:rPr>
              <a:t>Dynamically generate priority-ranked operational protocols (High, Medium, Low) with empirical findings, actions, and verification steps.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7C2D12"/>
                </a:solidFill>
              </a:rPr>
              <a:t>8. Executive Streamlit Command Hub: </a:t>
            </a:r>
            <a:r>
              <a:rPr sz="950">
                <a:solidFill>
                  <a:srgbClr val="6B5746"/>
                </a:solidFill>
              </a:rPr>
              <a:t>Engineer an intuitive, aesthetic web interface supporting Light/Dark themes, structured card boxes, and zero-clutter navigation.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7C2D12"/>
                </a:solidFill>
              </a:rPr>
              <a:t>9. Live SQLite Data Logging: </a:t>
            </a:r>
            <a:r>
              <a:rPr sz="950">
                <a:solidFill>
                  <a:srgbClr val="6B5746"/>
                </a:solidFill>
              </a:rPr>
              <a:t>Provide an operational terminal for staff to append new daily meal observations and export filtered audit records to CSV.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3474720" cy="292608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  <a:r>
              <a:rPr sz="900" b="1">
                <a:solidFill>
                  <a:srgbClr val="EA580C"/>
                </a:solidFill>
              </a:rPr>
              <a:t>SECTION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100" b="1">
                <a:solidFill>
                  <a:srgbClr val="2A1B10"/>
                </a:solidFill>
              </a:rPr>
              <a:t>4. Existing System &amp; Its Limitations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>
                <a:solidFill>
                  <a:srgbClr val="6B5746"/>
                </a:solidFill>
              </a:rPr>
              <a:t>Comparison between traditional kitchen recordkeeping and modern requirements.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51206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783080"/>
            <a:ext cx="5120640" cy="731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DC2626"/>
                </a:solidFill>
              </a:rPr>
              <a:t>📋 Characteristics of Existing System</a:t>
            </a:r>
          </a:p>
          <a:p>
            <a:pPr>
              <a:spcBef>
                <a:spcPts val="800"/>
              </a:spcBef>
            </a:pPr>
            <a:r>
              <a:rPr b="1" sz="1050">
                <a:solidFill>
                  <a:srgbClr val="DC2626"/>
                </a:solidFill>
              </a:rPr>
              <a:t>• Manual Paper Registers: </a:t>
            </a:r>
            <a:r>
              <a:rPr sz="1000">
                <a:solidFill>
                  <a:srgbClr val="6B5746"/>
                </a:solidFill>
              </a:rPr>
              <a:t>Daily kitchen logs are hand-written by supervisors, prone to missing entries, illegible data, and physical loss.</a:t>
            </a:r>
          </a:p>
          <a:p>
            <a:pPr>
              <a:spcBef>
                <a:spcPts val="800"/>
              </a:spcBef>
            </a:pPr>
            <a:r>
              <a:rPr b="1" sz="1050">
                <a:solidFill>
                  <a:srgbClr val="DC2626"/>
                </a:solidFill>
              </a:rPr>
              <a:t>• Static Retrospective Spreadsheets: </a:t>
            </a:r>
            <a:r>
              <a:rPr sz="1000">
                <a:solidFill>
                  <a:srgbClr val="6B5746"/>
                </a:solidFill>
              </a:rPr>
              <a:t>Where Excel is used, it functions merely as a passive historical archive without live dynamic dashboards or visual analysis.</a:t>
            </a:r>
          </a:p>
          <a:p>
            <a:pPr>
              <a:spcBef>
                <a:spcPts val="800"/>
              </a:spcBef>
            </a:pPr>
            <a:r>
              <a:rPr b="1" sz="1050">
                <a:solidFill>
                  <a:srgbClr val="DC2626"/>
                </a:solidFill>
              </a:rPr>
              <a:t>• Subjective Rule-of-Thumb Cooking: </a:t>
            </a:r>
            <a:r>
              <a:rPr sz="1000">
                <a:solidFill>
                  <a:srgbClr val="6B5746"/>
                </a:solidFill>
              </a:rPr>
              <a:t>Preparation volume is dictated entirely by chef intuition, causing persistent 15–25% buffer over-preparation.</a:t>
            </a:r>
          </a:p>
          <a:p>
            <a:pPr>
              <a:spcBef>
                <a:spcPts val="800"/>
              </a:spcBef>
            </a:pPr>
            <a:r>
              <a:rPr b="1" sz="1050">
                <a:solidFill>
                  <a:srgbClr val="DC2626"/>
                </a:solidFill>
              </a:rPr>
              <a:t>• No Demand Forecasting: </a:t>
            </a:r>
            <a:r>
              <a:rPr sz="1000">
                <a:solidFill>
                  <a:srgbClr val="6B5746"/>
                </a:solidFill>
              </a:rPr>
              <a:t>Zero capability to forecast upcoming week consumption or model cyclical weekend/holiday drop-offs.</a:t>
            </a:r>
          </a:p>
          <a:p>
            <a:pPr>
              <a:spcBef>
                <a:spcPts val="800"/>
              </a:spcBef>
            </a:pPr>
            <a:r>
              <a:rPr b="1" sz="1050">
                <a:solidFill>
                  <a:srgbClr val="DC2626"/>
                </a:solidFill>
              </a:rPr>
              <a:t>• Siloed Operations: </a:t>
            </a:r>
            <a:r>
              <a:rPr sz="1000">
                <a:solidFill>
                  <a:srgbClr val="6B5746"/>
                </a:solidFill>
              </a:rPr>
              <a:t>Hostels, canteens, and catering services operate independently with no standardized metrics or shared benchmarking.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783080"/>
            <a:ext cx="51206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783080"/>
            <a:ext cx="5120640" cy="73152"/>
          </a:xfrm>
          <a:prstGeom prst="rect">
            <a:avLst/>
          </a:prstGeom>
          <a:solidFill>
            <a:srgbClr val="7C2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965960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7C2D12"/>
                </a:solidFill>
              </a:rPr>
              <a:t>⚠️ Operational &amp; Business Limitations</a:t>
            </a:r>
          </a:p>
          <a:p>
            <a:pPr>
              <a:spcBef>
                <a:spcPts val="800"/>
              </a:spcBef>
            </a:pPr>
            <a:r>
              <a:rPr b="1" sz="1050">
                <a:solidFill>
                  <a:srgbClr val="7C2D12"/>
                </a:solidFill>
              </a:rPr>
              <a:t>• High Latency &amp; Inaction: </a:t>
            </a:r>
            <a:r>
              <a:rPr sz="1000">
                <a:solidFill>
                  <a:srgbClr val="6B5746"/>
                </a:solidFill>
              </a:rPr>
              <a:t>Data is reviewed weeks later at billing time, making real-time intervention and immediate food rescue impossible.</a:t>
            </a:r>
          </a:p>
          <a:p>
            <a:pPr>
              <a:spcBef>
                <a:spcPts val="800"/>
              </a:spcBef>
            </a:pPr>
            <a:r>
              <a:rPr b="1" sz="1050">
                <a:solidFill>
                  <a:srgbClr val="7C2D12"/>
                </a:solidFill>
              </a:rPr>
              <a:t>• Absence of Root Cause Attribution: </a:t>
            </a:r>
            <a:r>
              <a:rPr sz="1000">
                <a:solidFill>
                  <a:srgbClr val="6B5746"/>
                </a:solidFill>
              </a:rPr>
              <a:t>Fails to distinguish whether loss stems from kitchen over-prep, dining plate discards, or cold-chain spoilage.</a:t>
            </a:r>
          </a:p>
          <a:p>
            <a:pPr>
              <a:spcBef>
                <a:spcPts val="800"/>
              </a:spcBef>
            </a:pPr>
            <a:r>
              <a:rPr b="1" sz="1050">
                <a:solidFill>
                  <a:srgbClr val="7C2D12"/>
                </a:solidFill>
              </a:rPr>
              <a:t>• Uncontrolled Financial Drain: </a:t>
            </a:r>
            <a:r>
              <a:rPr sz="1000">
                <a:solidFill>
                  <a:srgbClr val="6B5746"/>
                </a:solidFill>
              </a:rPr>
              <a:t>Facilities lose ₹4 Lakhs+ annually per kitchen without visibility into specific high-waste categories like Rice and Bread.</a:t>
            </a:r>
          </a:p>
          <a:p>
            <a:pPr>
              <a:spcBef>
                <a:spcPts val="800"/>
              </a:spcBef>
            </a:pPr>
            <a:r>
              <a:rPr b="1" sz="1050">
                <a:solidFill>
                  <a:srgbClr val="7C2D12"/>
                </a:solidFill>
              </a:rPr>
              <a:t>• No Scenario Testing: </a:t>
            </a:r>
            <a:r>
              <a:rPr sz="1000">
                <a:solidFill>
                  <a:srgbClr val="6B5746"/>
                </a:solidFill>
              </a:rPr>
              <a:t>Supervisors cannot answer: 'What happens if we reduce batch sizes by 15%?' before taking operational risks.</a:t>
            </a:r>
          </a:p>
          <a:p>
            <a:pPr>
              <a:spcBef>
                <a:spcPts val="800"/>
              </a:spcBef>
            </a:pPr>
            <a:r>
              <a:rPr b="1" sz="1050">
                <a:solidFill>
                  <a:srgbClr val="7C2D12"/>
                </a:solidFill>
              </a:rPr>
              <a:t>• Compliance &amp; Audit Gaps: </a:t>
            </a:r>
            <a:r>
              <a:rPr sz="1000">
                <a:solidFill>
                  <a:srgbClr val="6B5746"/>
                </a:solidFill>
              </a:rPr>
              <a:t>Inability to generate instant verifiable waste reduction reports for campus governance or sustainability audits.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3474720" cy="292608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  <a:r>
              <a:rPr sz="900" b="1">
                <a:solidFill>
                  <a:srgbClr val="EA580C"/>
                </a:solidFill>
              </a:rPr>
              <a:t>SECTION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100" b="1">
                <a:solidFill>
                  <a:srgbClr val="2A1B10"/>
                </a:solidFill>
              </a:rPr>
              <a:t>5. Proposed System: Food Sense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>
                <a:solidFill>
                  <a:srgbClr val="6B5746"/>
                </a:solidFill>
              </a:rPr>
              <a:t>A modern, intelligent, end-to-end food waste analytics and governance platform.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33832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783080"/>
            <a:ext cx="3383280" cy="7315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6596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2A1B10"/>
                </a:solidFill>
              </a:rPr>
              <a:t>Real-Time Analytics &amp; Validation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EA580C"/>
                </a:solidFill>
              </a:rPr>
              <a:t>• Mass Conservation Enforcement: </a:t>
            </a:r>
            <a:r>
              <a:rPr sz="950">
                <a:solidFill>
                  <a:srgbClr val="6B5746"/>
                </a:solidFill>
              </a:rPr>
              <a:t>Automated physical validation (`Food_Prepared = Food_Served + Food_Wasted`) ensures 100% data integrity.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EA580C"/>
                </a:solidFill>
              </a:rPr>
              <a:t>• Interactive Multi-Facility Filters: </a:t>
            </a:r>
            <a:r>
              <a:rPr sz="950">
                <a:solidFill>
                  <a:srgbClr val="6B5746"/>
                </a:solidFill>
              </a:rPr>
              <a:t>Dynamic sidebar controls allow filtering by Facility, Food Category, Meal Type, and Date Horizon.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EA580C"/>
                </a:solidFill>
              </a:rPr>
              <a:t>• Executive KPI Deck: </a:t>
            </a:r>
            <a:r>
              <a:rPr sz="950">
                <a:solidFill>
                  <a:srgbClr val="6B5746"/>
                </a:solidFill>
              </a:rPr>
              <a:t>Live tracking of Total Waste (kg), Waste Rate (%), Financial Loss (INR), Rescued Meals, and Carbon Footprint (CO₂e).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783080"/>
            <a:ext cx="33832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783080"/>
            <a:ext cx="338328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96596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2A1B10"/>
                </a:solidFill>
              </a:rPr>
              <a:t>Econometric &amp; Machine Learning Engine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D97706"/>
                </a:solidFill>
              </a:rPr>
              <a:t>• Time-Series Trend Smoothing: </a:t>
            </a:r>
            <a:r>
              <a:rPr sz="950">
                <a:solidFill>
                  <a:srgbClr val="6B5746"/>
                </a:solidFill>
              </a:rPr>
              <a:t>7-Day Moving Averages and Exponential Smoothing (EWMA, alpha=0.30) filter daily attendance noise.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D97706"/>
                </a:solidFill>
              </a:rPr>
              <a:t>• 7-Day Seasonal Decomposition: </a:t>
            </a:r>
            <a:r>
              <a:rPr sz="950">
                <a:solidFill>
                  <a:srgbClr val="6B5746"/>
                </a:solidFill>
              </a:rPr>
              <a:t>Isolates systemic weekly cycles to predict weekend drop-offs and mid-week attendance peaks.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D97706"/>
                </a:solidFill>
              </a:rPr>
              <a:t>• ARIMA(1,1,1) Forward Forecasts: </a:t>
            </a:r>
            <a:r>
              <a:rPr sz="950">
                <a:solidFill>
                  <a:srgbClr val="6B5746"/>
                </a:solidFill>
              </a:rPr>
              <a:t>Projects 14-day waste trajectories with 95% statistical confidence intervals for inventory requisitioning.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D97706"/>
                </a:solidFill>
              </a:rPr>
              <a:t>• Scikit-Learn Regression: </a:t>
            </a:r>
            <a:r>
              <a:rPr sz="950">
                <a:solidFill>
                  <a:srgbClr val="6B5746"/>
                </a:solidFill>
              </a:rPr>
              <a:t>Quantifies empirical sensitivity: every 100 kg cooked yields ~15.2 kg waste (r = 0.689, R² = 0.474).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783080"/>
            <a:ext cx="33832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783080"/>
            <a:ext cx="3383280" cy="73152"/>
          </a:xfrm>
          <a:prstGeom prst="rect">
            <a:avLst/>
          </a:prstGeom>
          <a:solidFill>
            <a:srgbClr val="7C2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96596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2A1B10"/>
                </a:solidFill>
              </a:rPr>
              <a:t>Decision Support &amp; Simulation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7C2D12"/>
                </a:solidFill>
              </a:rPr>
              <a:t>• Interactive What-If Simulator: </a:t>
            </a:r>
            <a:r>
              <a:rPr sz="950">
                <a:solidFill>
                  <a:srgbClr val="6B5746"/>
                </a:solidFill>
              </a:rPr>
              <a:t>Enables supervisors to slide prep-cut and plate-cut targets and simulate food rescued, cost saved, and new waste rates.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7C2D12"/>
                </a:solidFill>
              </a:rPr>
              <a:t>• Data-Backed Kitchen Recommendations: </a:t>
            </a:r>
            <a:r>
              <a:rPr sz="950">
                <a:solidFill>
                  <a:srgbClr val="6B5746"/>
                </a:solidFill>
              </a:rPr>
              <a:t>Translates anomalies into 6 prioritized operational protocols with clear actions and verification checkpoints.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7C2D12"/>
                </a:solidFill>
              </a:rPr>
              <a:t>• Structured Culinary Bistro UI: </a:t>
            </a:r>
            <a:r>
              <a:rPr sz="950">
                <a:solidFill>
                  <a:srgbClr val="6B5746"/>
                </a:solidFill>
              </a:rPr>
              <a:t>Modern card-boxed visualization widgets, dark/light themes, zero 'undefined' text artifacts, and live SQLite terminal.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3474720" cy="292608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  <a:r>
              <a:rPr sz="900" b="1">
                <a:solidFill>
                  <a:srgbClr val="EA580C"/>
                </a:solidFill>
              </a:rPr>
              <a:t>SECTION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100" b="1">
                <a:solidFill>
                  <a:srgbClr val="2A1B10"/>
                </a:solidFill>
              </a:rPr>
              <a:t>6. System Architecture &amp; Block Diagram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>
                <a:solidFill>
                  <a:srgbClr val="6B5746"/>
                </a:solidFill>
              </a:rPr>
              <a:t>Four-tier architectural pipeline from data persistence to executive decision support.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251460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783080"/>
            <a:ext cx="2514600" cy="73152"/>
          </a:xfrm>
          <a:prstGeom prst="rect">
            <a:avLst/>
          </a:prstGeom>
          <a:solidFill>
            <a:srgbClr val="7C2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8" y="1920240"/>
            <a:ext cx="2286000" cy="438912"/>
          </a:xfrm>
          <a:prstGeom prst="roundRect">
            <a:avLst/>
          </a:prstGeom>
          <a:solidFill>
            <a:srgbClr val="7C2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FFFFFF"/>
                </a:solidFill>
              </a:rPr>
              <a:t>Layer 1: Data Storage &amp; Ingestion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514600"/>
            <a:ext cx="21945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sz="1000">
                <a:solidFill>
                  <a:srgbClr val="2A1B10"/>
                </a:solidFill>
              </a:rPr>
              <a:t>✔ SQLite Database Engine (`kitchen_waste.db`)</a:t>
            </a:r>
          </a:p>
          <a:p>
            <a:pPr>
              <a:spcBef>
                <a:spcPts val="1200"/>
              </a:spcBef>
            </a:pPr>
            <a:r>
              <a:rPr sz="1000">
                <a:solidFill>
                  <a:srgbClr val="2A1B10"/>
                </a:solidFill>
              </a:rPr>
              <a:t>✔ CSV Log Parser &amp; Dataset Generator</a:t>
            </a:r>
          </a:p>
          <a:p>
            <a:pPr>
              <a:spcBef>
                <a:spcPts val="1200"/>
              </a:spcBef>
            </a:pPr>
            <a:r>
              <a:rPr sz="1000">
                <a:solidFill>
                  <a:srgbClr val="2A1B10"/>
                </a:solidFill>
              </a:rPr>
              <a:t>✔ 420 Verified Baseline Meal Observations</a:t>
            </a:r>
          </a:p>
          <a:p>
            <a:pPr>
              <a:spcBef>
                <a:spcPts val="1200"/>
              </a:spcBef>
            </a:pPr>
            <a:r>
              <a:rPr sz="1000">
                <a:solidFill>
                  <a:srgbClr val="2A1B10"/>
                </a:solidFill>
              </a:rPr>
              <a:t>✔ Real-Time Kitchen Entry Form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1783080"/>
            <a:ext cx="251460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74720" y="1783080"/>
            <a:ext cx="2514600" cy="7315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584448" y="1920240"/>
            <a:ext cx="2286000" cy="438912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FFFFFF"/>
                </a:solidFill>
              </a:rPr>
              <a:t>Layer 2: Preprocessing &amp; Validation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9312" y="2514600"/>
            <a:ext cx="21945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sz="1000">
                <a:solidFill>
                  <a:srgbClr val="2A1B10"/>
                </a:solidFill>
              </a:rPr>
              <a:t>✔ Conservation of Mass Guardrails</a:t>
            </a:r>
          </a:p>
          <a:p>
            <a:pPr>
              <a:spcBef>
                <a:spcPts val="1200"/>
              </a:spcBef>
            </a:pPr>
            <a:r>
              <a:rPr sz="1000">
                <a:solidFill>
                  <a:srgbClr val="2A1B10"/>
                </a:solidFill>
              </a:rPr>
              <a:t>✔ Automated Null &amp; Type Handling</a:t>
            </a:r>
          </a:p>
          <a:p>
            <a:pPr>
              <a:spcBef>
                <a:spcPts val="1200"/>
              </a:spcBef>
            </a:pPr>
            <a:r>
              <a:rPr sz="1000">
                <a:solidFill>
                  <a:srgbClr val="2A1B10"/>
                </a:solidFill>
              </a:rPr>
              <a:t>✔ IQR Anomaly Profiler (1.5*IQR threshold)</a:t>
            </a:r>
          </a:p>
          <a:p>
            <a:pPr>
              <a:spcBef>
                <a:spcPts val="1200"/>
              </a:spcBef>
            </a:pPr>
            <a:r>
              <a:rPr sz="1000">
                <a:solidFill>
                  <a:srgbClr val="2A1B10"/>
                </a:solidFill>
              </a:rPr>
              <a:t>✔ Multi-Facility Dynamic Slicing &amp; Resampling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783080"/>
            <a:ext cx="251460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1783080"/>
            <a:ext cx="251460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27648" y="1920240"/>
            <a:ext cx="2286000" cy="438912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FFFFFF"/>
                </a:solidFill>
              </a:rPr>
              <a:t>Layer 3: Analytical &amp; ML Engine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2512" y="2514600"/>
            <a:ext cx="21945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sz="1000">
                <a:solidFill>
                  <a:srgbClr val="2A1B10"/>
                </a:solidFill>
              </a:rPr>
              <a:t>✔ Seaborn/Plotly Pearson Heatmaps</a:t>
            </a:r>
          </a:p>
          <a:p>
            <a:pPr>
              <a:spcBef>
                <a:spcPts val="1200"/>
              </a:spcBef>
            </a:pPr>
            <a:r>
              <a:rPr sz="1000">
                <a:solidFill>
                  <a:srgbClr val="2A1B10"/>
                </a:solidFill>
              </a:rPr>
              <a:t>✔ Moving Average &amp; EWMA Smoothing</a:t>
            </a:r>
          </a:p>
          <a:p>
            <a:pPr>
              <a:spcBef>
                <a:spcPts val="1200"/>
              </a:spcBef>
            </a:pPr>
            <a:r>
              <a:rPr sz="1000">
                <a:solidFill>
                  <a:srgbClr val="2A1B10"/>
                </a:solidFill>
              </a:rPr>
              <a:t>✔ Additive Seasonal Decomposition</a:t>
            </a:r>
          </a:p>
          <a:p>
            <a:pPr>
              <a:spcBef>
                <a:spcPts val="1200"/>
              </a:spcBef>
            </a:pPr>
            <a:r>
              <a:rPr sz="1000">
                <a:solidFill>
                  <a:srgbClr val="2A1B10"/>
                </a:solidFill>
              </a:rPr>
              <a:t>✔ ARIMA(p,d,q) 14-Day Predictor</a:t>
            </a:r>
          </a:p>
          <a:p>
            <a:pPr>
              <a:spcBef>
                <a:spcPts val="1200"/>
              </a:spcBef>
            </a:pPr>
            <a:r>
              <a:rPr sz="1000">
                <a:solidFill>
                  <a:srgbClr val="2A1B10"/>
                </a:solidFill>
              </a:rPr>
              <a:t>✔ Scikit-Learn OLS Linear Regression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61120" y="1783080"/>
            <a:ext cx="251460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61120" y="1783080"/>
            <a:ext cx="2514600" cy="731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070848" y="1920240"/>
            <a:ext cx="2286000" cy="438912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FFFFFF"/>
                </a:solidFill>
              </a:rPr>
              <a:t>Layer 4: UI &amp; Decision Support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25712" y="2514600"/>
            <a:ext cx="21945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sz="1000">
                <a:solidFill>
                  <a:srgbClr val="2A1B10"/>
                </a:solidFill>
              </a:rPr>
              <a:t>✔ Streamlit Responsive Web Application</a:t>
            </a:r>
          </a:p>
          <a:p>
            <a:pPr>
              <a:spcBef>
                <a:spcPts val="1200"/>
              </a:spcBef>
            </a:pPr>
            <a:r>
              <a:rPr sz="1000">
                <a:solidFill>
                  <a:srgbClr val="2A1B10"/>
                </a:solidFill>
              </a:rPr>
              <a:t>✔ Executive Hub with Boxed Chart Cards</a:t>
            </a:r>
          </a:p>
          <a:p>
            <a:pPr>
              <a:spcBef>
                <a:spcPts val="1200"/>
              </a:spcBef>
            </a:pPr>
            <a:r>
              <a:rPr sz="1000">
                <a:solidFill>
                  <a:srgbClr val="2A1B10"/>
                </a:solidFill>
              </a:rPr>
              <a:t>✔ Interactive 'What-If' Scenario Simulator</a:t>
            </a:r>
          </a:p>
          <a:p>
            <a:pPr>
              <a:spcBef>
                <a:spcPts val="1200"/>
              </a:spcBef>
            </a:pPr>
            <a:r>
              <a:rPr sz="1000">
                <a:solidFill>
                  <a:srgbClr val="2A1B10"/>
                </a:solidFill>
              </a:rPr>
              <a:t>✔ 6 Prioritized Kitchen Action Protocols</a:t>
            </a:r>
          </a:p>
          <a:p>
            <a:pPr>
              <a:spcBef>
                <a:spcPts val="1200"/>
              </a:spcBef>
            </a:pPr>
            <a:r>
              <a:rPr sz="1000">
                <a:solidFill>
                  <a:srgbClr val="2A1B10"/>
                </a:solidFill>
              </a:rPr>
              <a:t>✔ Light &amp; Dark Bistro Culinary Themes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3474720" cy="292608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  <a:r>
              <a:rPr sz="900" b="1">
                <a:solidFill>
                  <a:srgbClr val="EA580C"/>
                </a:solidFill>
              </a:rPr>
              <a:t>SECTION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100" b="1">
                <a:solidFill>
                  <a:srgbClr val="2A1B10"/>
                </a:solidFill>
              </a:rPr>
              <a:t>7. Technologies Used (Hardware &amp; Software)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>
                <a:solidFill>
                  <a:srgbClr val="6B5746"/>
                </a:solidFill>
              </a:rPr>
              <a:t>Specifications of the development and production deployment environment.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51206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783080"/>
            <a:ext cx="5120640" cy="7315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EA580C"/>
                </a:solidFill>
              </a:rPr>
              <a:t>💻 Software Environment &amp; Frameworks</a:t>
            </a:r>
          </a:p>
          <a:p>
            <a:pPr>
              <a:spcBef>
                <a:spcPts val="600"/>
              </a:spcBef>
            </a:pPr>
            <a:r>
              <a:rPr b="1" sz="1000">
                <a:solidFill>
                  <a:srgbClr val="EA580C"/>
                </a:solidFill>
              </a:rPr>
              <a:t>• Python 3.11+: </a:t>
            </a:r>
            <a:r>
              <a:rPr sz="950">
                <a:solidFill>
                  <a:srgbClr val="6B5746"/>
                </a:solidFill>
              </a:rPr>
              <a:t>Core runtime programming language for data manipulation and backend modeling.</a:t>
            </a:r>
          </a:p>
          <a:p>
            <a:pPr>
              <a:spcBef>
                <a:spcPts val="600"/>
              </a:spcBef>
            </a:pPr>
            <a:r>
              <a:rPr b="1" sz="1000">
                <a:solidFill>
                  <a:srgbClr val="EA580C"/>
                </a:solidFill>
              </a:rPr>
              <a:t>• Streamlit 1.56+: </a:t>
            </a:r>
            <a:r>
              <a:rPr sz="950">
                <a:solidFill>
                  <a:srgbClr val="6B5746"/>
                </a:solidFill>
              </a:rPr>
              <a:t>Modern reactive web application framework with custom CSS theme tokens and segmented navigation controls.</a:t>
            </a:r>
          </a:p>
          <a:p>
            <a:pPr>
              <a:spcBef>
                <a:spcPts val="600"/>
              </a:spcBef>
            </a:pPr>
            <a:r>
              <a:rPr b="1" sz="1000">
                <a:solidFill>
                  <a:srgbClr val="EA580C"/>
                </a:solidFill>
              </a:rPr>
              <a:t>• Plotly Express &amp; Graph Objects: </a:t>
            </a:r>
            <a:r>
              <a:rPr sz="950">
                <a:solidFill>
                  <a:srgbClr val="6B5746"/>
                </a:solidFill>
              </a:rPr>
              <a:t>Interactive, publication-grade visualization engine with custom zoom, tooltips, and bottom-positioned legends.</a:t>
            </a:r>
          </a:p>
          <a:p>
            <a:pPr>
              <a:spcBef>
                <a:spcPts val="600"/>
              </a:spcBef>
            </a:pPr>
            <a:r>
              <a:rPr b="1" sz="1000">
                <a:solidFill>
                  <a:srgbClr val="EA580C"/>
                </a:solidFill>
              </a:rPr>
              <a:t>• Pandas &amp; NumPy: </a:t>
            </a:r>
            <a:r>
              <a:rPr sz="950">
                <a:solidFill>
                  <a:srgbClr val="6B5746"/>
                </a:solidFill>
              </a:rPr>
              <a:t>Vectorized dataset aggregation, dynamic filtering, datetime resampling, and matrix computations.</a:t>
            </a:r>
          </a:p>
          <a:p>
            <a:pPr>
              <a:spcBef>
                <a:spcPts val="600"/>
              </a:spcBef>
            </a:pPr>
            <a:r>
              <a:rPr b="1" sz="1000">
                <a:solidFill>
                  <a:srgbClr val="EA580C"/>
                </a:solidFill>
              </a:rPr>
              <a:t>• Scikit-Learn: </a:t>
            </a:r>
            <a:r>
              <a:rPr sz="950">
                <a:solidFill>
                  <a:srgbClr val="6B5746"/>
                </a:solidFill>
              </a:rPr>
              <a:t>Machine learning library providing LinearRegression, cross-validation metrics, RMSE, and R² evaluation.</a:t>
            </a:r>
          </a:p>
          <a:p>
            <a:pPr>
              <a:spcBef>
                <a:spcPts val="600"/>
              </a:spcBef>
            </a:pPr>
            <a:r>
              <a:rPr b="1" sz="1000">
                <a:solidFill>
                  <a:srgbClr val="EA580C"/>
                </a:solidFill>
              </a:rPr>
              <a:t>• Statsmodels: </a:t>
            </a:r>
            <a:r>
              <a:rPr sz="950">
                <a:solidFill>
                  <a:srgbClr val="6B5746"/>
                </a:solidFill>
              </a:rPr>
              <a:t>Econometric package running seasonal_decompose and ARIMA(p,d,q) forecasting.</a:t>
            </a:r>
          </a:p>
          <a:p>
            <a:pPr>
              <a:spcBef>
                <a:spcPts val="600"/>
              </a:spcBef>
            </a:pPr>
            <a:r>
              <a:rPr b="1" sz="1000">
                <a:solidFill>
                  <a:srgbClr val="EA580C"/>
                </a:solidFill>
              </a:rPr>
              <a:t>• SQLite 3: </a:t>
            </a:r>
            <a:r>
              <a:rPr sz="950">
                <a:solidFill>
                  <a:srgbClr val="6B5746"/>
                </a:solidFill>
              </a:rPr>
              <a:t>Lightweight ACID-compliant embedded relational database for persistence and live meal logging.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783080"/>
            <a:ext cx="51206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783080"/>
            <a:ext cx="512064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965960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D97706"/>
                </a:solidFill>
              </a:rPr>
              <a:t>🖥️ Hardware &amp; Deployment Requirements</a:t>
            </a:r>
          </a:p>
          <a:p>
            <a:pPr>
              <a:spcBef>
                <a:spcPts val="600"/>
              </a:spcBef>
            </a:pPr>
            <a:r>
              <a:rPr b="1" sz="1000">
                <a:solidFill>
                  <a:srgbClr val="D97706"/>
                </a:solidFill>
              </a:rPr>
              <a:t>• Processor / CPU: </a:t>
            </a:r>
            <a:r>
              <a:rPr sz="950">
                <a:solidFill>
                  <a:srgbClr val="6B5746"/>
                </a:solidFill>
              </a:rPr>
              <a:t>Intel Core i5 / AMD Ryzen 5 or higher (minimum quad-core 2.4 GHz) for smooth time-series fitting.</a:t>
            </a:r>
          </a:p>
          <a:p>
            <a:pPr>
              <a:spcBef>
                <a:spcPts val="600"/>
              </a:spcBef>
            </a:pPr>
            <a:r>
              <a:rPr b="1" sz="1000">
                <a:solidFill>
                  <a:srgbClr val="D97706"/>
                </a:solidFill>
              </a:rPr>
              <a:t>• System Memory (RAM): </a:t>
            </a:r>
            <a:r>
              <a:rPr sz="950">
                <a:solidFill>
                  <a:srgbClr val="6B5746"/>
                </a:solidFill>
              </a:rPr>
              <a:t>8 GB RAM minimum (16 GB recommended for concurrent multi-facility forecasting).</a:t>
            </a:r>
          </a:p>
          <a:p>
            <a:pPr>
              <a:spcBef>
                <a:spcPts val="600"/>
              </a:spcBef>
            </a:pPr>
            <a:r>
              <a:rPr b="1" sz="1000">
                <a:solidFill>
                  <a:srgbClr val="D97706"/>
                </a:solidFill>
              </a:rPr>
              <a:t>• Storage Footprint: </a:t>
            </a:r>
            <a:r>
              <a:rPr sz="950">
                <a:solidFill>
                  <a:srgbClr val="6B5746"/>
                </a:solidFill>
              </a:rPr>
              <a:t>500 MB free disk space for SQLite database, Python virtual environment, and cached charts.</a:t>
            </a:r>
          </a:p>
          <a:p>
            <a:pPr>
              <a:spcBef>
                <a:spcPts val="600"/>
              </a:spcBef>
            </a:pPr>
            <a:r>
              <a:rPr b="1" sz="1000">
                <a:solidFill>
                  <a:srgbClr val="D97706"/>
                </a:solidFill>
              </a:rPr>
              <a:t>• Display Resolution: </a:t>
            </a:r>
            <a:r>
              <a:rPr sz="950">
                <a:solidFill>
                  <a:srgbClr val="6B5746"/>
                </a:solidFill>
              </a:rPr>
              <a:t>Optimized for 1080p FHD (1920x1080) and 768p responsive laptop screens with 5-card KPI single-row layout.</a:t>
            </a:r>
          </a:p>
          <a:p>
            <a:pPr>
              <a:spcBef>
                <a:spcPts val="600"/>
              </a:spcBef>
            </a:pPr>
            <a:r>
              <a:rPr b="1" sz="1000">
                <a:solidFill>
                  <a:srgbClr val="D97706"/>
                </a:solidFill>
              </a:rPr>
              <a:t>• Operating System: </a:t>
            </a:r>
            <a:r>
              <a:rPr sz="950">
                <a:solidFill>
                  <a:srgbClr val="6B5746"/>
                </a:solidFill>
              </a:rPr>
              <a:t>Cross-platform compatibility: Windows 10/11, macOS Monterey+, and Ubuntu Linux 20.04+ LTS.</a:t>
            </a:r>
          </a:p>
          <a:p>
            <a:pPr>
              <a:spcBef>
                <a:spcPts val="600"/>
              </a:spcBef>
            </a:pPr>
            <a:r>
              <a:rPr b="1" sz="1000">
                <a:solidFill>
                  <a:srgbClr val="D97706"/>
                </a:solidFill>
              </a:rPr>
              <a:t>• Browser Compatibility: </a:t>
            </a:r>
            <a:r>
              <a:rPr sz="950">
                <a:solidFill>
                  <a:srgbClr val="6B5746"/>
                </a:solidFill>
              </a:rPr>
              <a:t>Google Chrome, Mozilla Firefox, Microsoft Edge, Safari with WebGL hardware acceleration enabled.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3474720" cy="292608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  <a:r>
              <a:rPr sz="900" b="1">
                <a:solidFill>
                  <a:srgbClr val="EA580C"/>
                </a:solidFill>
              </a:rPr>
              <a:t>SECTION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100" b="1">
                <a:solidFill>
                  <a:srgbClr val="2A1B10"/>
                </a:solidFill>
              </a:rPr>
              <a:t>8. Methodology / Working Process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>
                <a:solidFill>
                  <a:srgbClr val="6B5746"/>
                </a:solidFill>
              </a:rPr>
              <a:t>Structured 4-phase analytical workflow implemented in the system.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251460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783080"/>
            <a:ext cx="2514600" cy="73152"/>
          </a:xfrm>
          <a:prstGeom prst="rect">
            <a:avLst/>
          </a:prstGeom>
          <a:solidFill>
            <a:srgbClr val="7C2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8" y="1920240"/>
            <a:ext cx="2286000" cy="438912"/>
          </a:xfrm>
          <a:prstGeom prst="roundRect">
            <a:avLst/>
          </a:prstGeom>
          <a:solidFill>
            <a:srgbClr val="7C2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FFFFFF"/>
                </a:solidFill>
              </a:rPr>
              <a:t>Phase 1: Ingestion &amp; Verification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514600"/>
            <a:ext cx="21945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b="1" sz="950">
                <a:solidFill>
                  <a:srgbClr val="7C2D12"/>
                </a:solidFill>
              </a:rPr>
              <a:t>• Data Ingestion: </a:t>
            </a:r>
            <a:r>
              <a:rPr sz="900">
                <a:solidFill>
                  <a:srgbClr val="6B5746"/>
                </a:solidFill>
              </a:rPr>
              <a:t>System loads baseline 420 records from SQLite or uploads new operational meal records via CSV/Form.</a:t>
            </a:r>
          </a:p>
          <a:p>
            <a:pPr>
              <a:spcBef>
                <a:spcPts val="800"/>
              </a:spcBef>
            </a:pPr>
            <a:r>
              <a:rPr b="1" sz="950">
                <a:solidFill>
                  <a:srgbClr val="7C2D12"/>
                </a:solidFill>
              </a:rPr>
              <a:t>• Sanity Checks: </a:t>
            </a:r>
            <a:r>
              <a:rPr sz="900">
                <a:solidFill>
                  <a:srgbClr val="6B5746"/>
                </a:solidFill>
              </a:rPr>
              <a:t>Verifies column data types: Date (datetime64), Category/Facility/Cause (object), Prep/Served/Wasted (float64).</a:t>
            </a:r>
          </a:p>
          <a:p>
            <a:pPr>
              <a:spcBef>
                <a:spcPts val="800"/>
              </a:spcBef>
            </a:pPr>
            <a:r>
              <a:rPr b="1" sz="950">
                <a:solidFill>
                  <a:srgbClr val="7C2D12"/>
                </a:solidFill>
              </a:rPr>
              <a:t>• Conservation Assertions: </a:t>
            </a:r>
            <a:r>
              <a:rPr sz="900">
                <a:solidFill>
                  <a:srgbClr val="6B5746"/>
                </a:solidFill>
              </a:rPr>
              <a:t>Enforces mass balance: Prepared = Served + Wasted; rejects illegal negative volumes.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1783080"/>
            <a:ext cx="251460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74720" y="1783080"/>
            <a:ext cx="2514600" cy="7315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584448" y="1920240"/>
            <a:ext cx="2286000" cy="438912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FFFFFF"/>
                </a:solidFill>
              </a:rPr>
              <a:t>Phase 2: EDA &amp; Anomaly Profiling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9312" y="2514600"/>
            <a:ext cx="21945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b="1" sz="950">
                <a:solidFill>
                  <a:srgbClr val="EA580C"/>
                </a:solidFill>
              </a:rPr>
              <a:t>• Categorical Pareto Modeling: </a:t>
            </a:r>
            <a:r>
              <a:rPr sz="900">
                <a:solidFill>
                  <a:srgbClr val="6B5746"/>
                </a:solidFill>
              </a:rPr>
              <a:t>Computes waste distribution across 7 food categories to detect dominant drivers (Rice/Bread).</a:t>
            </a:r>
          </a:p>
          <a:p>
            <a:pPr>
              <a:spcBef>
                <a:spcPts val="800"/>
              </a:spcBef>
            </a:pPr>
            <a:r>
              <a:rPr b="1" sz="950">
                <a:solidFill>
                  <a:srgbClr val="EA580C"/>
                </a:solidFill>
              </a:rPr>
              <a:t>• IQR Outlier Identification: </a:t>
            </a:r>
            <a:r>
              <a:rPr sz="900">
                <a:solidFill>
                  <a:srgbClr val="6B5746"/>
                </a:solidFill>
              </a:rPr>
              <a:t>Calculates Q1, Q3, and IQR = Q3 - Q1; marks observations exceeding Q3 + 1.5*IQR as anomalies.</a:t>
            </a:r>
          </a:p>
          <a:p>
            <a:pPr>
              <a:spcBef>
                <a:spcPts val="800"/>
              </a:spcBef>
            </a:pPr>
            <a:r>
              <a:rPr b="1" sz="950">
                <a:solidFill>
                  <a:srgbClr val="EA580C"/>
                </a:solidFill>
              </a:rPr>
              <a:t>• Bivariate Correlation: </a:t>
            </a:r>
            <a:r>
              <a:rPr sz="900">
                <a:solidFill>
                  <a:srgbClr val="6B5746"/>
                </a:solidFill>
              </a:rPr>
              <a:t>Generates Pearson correlation matrix (r) between preparation volume and waste.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783080"/>
            <a:ext cx="251460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1783080"/>
            <a:ext cx="251460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27648" y="1920240"/>
            <a:ext cx="2286000" cy="438912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FFFFFF"/>
                </a:solidFill>
              </a:rPr>
              <a:t>Phase 3: Time-Series Modeling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2512" y="2514600"/>
            <a:ext cx="21945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b="1" sz="950">
                <a:solidFill>
                  <a:srgbClr val="D97706"/>
                </a:solidFill>
              </a:rPr>
              <a:t>• Resampling &amp; Interpolation: </a:t>
            </a:r>
            <a:r>
              <a:rPr sz="900">
                <a:solidFill>
                  <a:srgbClr val="6B5746"/>
                </a:solidFill>
              </a:rPr>
              <a:t>Resamples data by Daily ('D') or Weekly ('W') frequency, handling gaps via forward fill.</a:t>
            </a:r>
          </a:p>
          <a:p>
            <a:pPr>
              <a:spcBef>
                <a:spcPts val="800"/>
              </a:spcBef>
            </a:pPr>
            <a:r>
              <a:rPr b="1" sz="950">
                <a:solidFill>
                  <a:srgbClr val="D97706"/>
                </a:solidFill>
              </a:rPr>
              <a:t>• Smoothing Filter: </a:t>
            </a:r>
            <a:r>
              <a:rPr sz="900">
                <a:solidFill>
                  <a:srgbClr val="6B5746"/>
                </a:solidFill>
              </a:rPr>
              <a:t>Applies 7-day Moving Average and Exponential Smoothing (alpha=0.30) to track trend lines.</a:t>
            </a:r>
          </a:p>
          <a:p>
            <a:pPr>
              <a:spcBef>
                <a:spcPts val="800"/>
              </a:spcBef>
            </a:pPr>
            <a:r>
              <a:rPr b="1" sz="950">
                <a:solidFill>
                  <a:srgbClr val="D97706"/>
                </a:solidFill>
              </a:rPr>
              <a:t>• Seasonal Decomposition: </a:t>
            </a:r>
            <a:r>
              <a:rPr sz="900">
                <a:solidFill>
                  <a:srgbClr val="6B5746"/>
                </a:solidFill>
              </a:rPr>
              <a:t>Decomposes series into Trend, Seasonal (7-day cycle), and Residual components.</a:t>
            </a:r>
          </a:p>
          <a:p>
            <a:pPr>
              <a:spcBef>
                <a:spcPts val="800"/>
              </a:spcBef>
            </a:pPr>
            <a:r>
              <a:rPr b="1" sz="950">
                <a:solidFill>
                  <a:srgbClr val="D97706"/>
                </a:solidFill>
              </a:rPr>
              <a:t>• ARIMA Forecasting: </a:t>
            </a:r>
            <a:r>
              <a:rPr sz="900">
                <a:solidFill>
                  <a:srgbClr val="6B5746"/>
                </a:solidFill>
              </a:rPr>
              <a:t>Fits ARIMA(1,1,1) model and projects expected waste 14 days ahead with confidence intervals.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61120" y="1783080"/>
            <a:ext cx="251460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61120" y="1783080"/>
            <a:ext cx="2514600" cy="731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070848" y="1920240"/>
            <a:ext cx="2286000" cy="438912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FFFFFF"/>
                </a:solidFill>
              </a:rPr>
              <a:t>Phase 4: Simulation &amp; Protocols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25712" y="2514600"/>
            <a:ext cx="21945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b="1" sz="950">
                <a:solidFill>
                  <a:srgbClr val="DC2626"/>
                </a:solidFill>
              </a:rPr>
              <a:t>• What-If Simulation: </a:t>
            </a:r>
            <a:r>
              <a:rPr sz="900">
                <a:solidFill>
                  <a:srgbClr val="6B5746"/>
                </a:solidFill>
              </a:rPr>
              <a:t>Takes user inputs for over-prep reduction (%) and plate-waste reduction (%) and projects kg/INR rescued.</a:t>
            </a:r>
          </a:p>
          <a:p>
            <a:pPr>
              <a:spcBef>
                <a:spcPts val="800"/>
              </a:spcBef>
            </a:pPr>
            <a:r>
              <a:rPr b="1" sz="950">
                <a:solidFill>
                  <a:srgbClr val="DC2626"/>
                </a:solidFill>
              </a:rPr>
              <a:t>• Linear Regression: </a:t>
            </a:r>
            <a:r>
              <a:rPr sz="900">
                <a:solidFill>
                  <a:srgbClr val="6B5746"/>
                </a:solidFill>
              </a:rPr>
              <a:t>Fits Ordinary Least Squares (OLS) model: Food_Wasted = beta1 * Food_Prepared + beta0.</a:t>
            </a:r>
          </a:p>
          <a:p>
            <a:pPr>
              <a:spcBef>
                <a:spcPts val="800"/>
              </a:spcBef>
            </a:pPr>
            <a:r>
              <a:rPr b="1" sz="950">
                <a:solidFill>
                  <a:srgbClr val="DC2626"/>
                </a:solidFill>
              </a:rPr>
              <a:t>• Action Generation: </a:t>
            </a:r>
            <a:r>
              <a:rPr sz="900">
                <a:solidFill>
                  <a:srgbClr val="6B5746"/>
                </a:solidFill>
              </a:rPr>
              <a:t>Evaluates statistical thresholds to trigger 6 prioritized operational intervention protocols.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3474720" cy="292608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  <a:r>
              <a:rPr sz="900" b="1">
                <a:solidFill>
                  <a:srgbClr val="EA580C"/>
                </a:solidFill>
              </a:rPr>
              <a:t>SECTION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100" b="1">
                <a:solidFill>
                  <a:srgbClr val="2A1B10"/>
                </a:solidFill>
              </a:rPr>
              <a:t>9. Implementation &amp; Module Breakdown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>
                <a:solidFill>
                  <a:srgbClr val="6B5746"/>
                </a:solidFill>
              </a:rPr>
              <a:t>Core application modules implemented in the Streamlit web dashboard.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33832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783080"/>
            <a:ext cx="3383280" cy="7315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6596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2A1B10"/>
                </a:solidFill>
              </a:rPr>
              <a:t>Tab 1: Kitchen Executive Hub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EA580C"/>
                </a:solidFill>
              </a:rPr>
              <a:t>• 5-Card KPI Plate Deck: </a:t>
            </a:r>
            <a:r>
              <a:rPr sz="950">
                <a:solidFill>
                  <a:srgbClr val="6B5746"/>
                </a:solidFill>
              </a:rPr>
              <a:t>Total Food Wasted, Total Meals Logged, Prep vs Served, Financial Loss (INR), and Rescued Meals.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EA580C"/>
                </a:solidFill>
              </a:rPr>
              <a:t>• Structured Graph Cards: </a:t>
            </a:r>
            <a:r>
              <a:rPr sz="950">
                <a:solidFill>
                  <a:srgbClr val="6B5746"/>
                </a:solidFill>
              </a:rPr>
              <a:t>Weekly Waste Trajectory, Category Donut Chart, Facility Volumes, and Root Cause Loss in bordered boxes.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EA580C"/>
                </a:solidFill>
              </a:rPr>
              <a:t>• Operations Matrix: </a:t>
            </a:r>
            <a:r>
              <a:rPr sz="950">
                <a:solidFill>
                  <a:srgbClr val="6B5746"/>
                </a:solidFill>
              </a:rPr>
              <a:t>Aggregated prepared, served, wasted kg and waste percentage table across all dining facilities.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783080"/>
            <a:ext cx="33832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783080"/>
            <a:ext cx="338328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96596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2A1B10"/>
                </a:solidFill>
              </a:rPr>
              <a:t>Tab 2 &amp; 3: Analytics &amp; Forecasting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D97706"/>
                </a:solidFill>
              </a:rPr>
              <a:t>• Distribution Curves: </a:t>
            </a:r>
            <a:r>
              <a:rPr sz="950">
                <a:solidFill>
                  <a:srgbClr val="6B5746"/>
                </a:solidFill>
              </a:rPr>
              <a:t>Histograms with customizable bin granularity and stratification by Meal Type, Category, or Location.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D97706"/>
                </a:solidFill>
              </a:rPr>
              <a:t>• Outlier Profiler: </a:t>
            </a:r>
            <a:r>
              <a:rPr sz="950">
                <a:solidFill>
                  <a:srgbClr val="6B5746"/>
                </a:solidFill>
              </a:rPr>
              <a:t>Boxplots displaying IQR distributions to isolate operational anomalies.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D97706"/>
                </a:solidFill>
              </a:rPr>
              <a:t>• Time-Series Engine: </a:t>
            </a:r>
            <a:r>
              <a:rPr sz="950">
                <a:solidFill>
                  <a:srgbClr val="6B5746"/>
                </a:solidFill>
              </a:rPr>
              <a:t>Interactive moving averages, exponential smoothing, 7-day seasonal decomposition, and ARIMA forecasts.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783080"/>
            <a:ext cx="33832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783080"/>
            <a:ext cx="3383280" cy="73152"/>
          </a:xfrm>
          <a:prstGeom prst="rect">
            <a:avLst/>
          </a:prstGeom>
          <a:solidFill>
            <a:srgbClr val="7C2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96596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2A1B10"/>
                </a:solidFill>
              </a:rPr>
              <a:t>Tab 4, 5 &amp; 6: Simulator, Actions &amp; Logs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7C2D12"/>
                </a:solidFill>
              </a:rPr>
              <a:t>• Menu Portion Simulator: </a:t>
            </a:r>
            <a:r>
              <a:rPr sz="950">
                <a:solidFill>
                  <a:srgbClr val="6B5746"/>
                </a:solidFill>
              </a:rPr>
              <a:t>What-If scenario sliders with live calculation of food saved, cost saved, and new projected waste rates.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7C2D12"/>
                </a:solidFill>
              </a:rPr>
              <a:t>• Action Recommendations: </a:t>
            </a:r>
            <a:r>
              <a:rPr sz="950">
                <a:solidFill>
                  <a:srgbClr val="6B5746"/>
                </a:solidFill>
              </a:rPr>
              <a:t>Dedicated hub containing 6 prioritized operational protocols with empirical findings and verification steps.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7C2D12"/>
                </a:solidFill>
              </a:rPr>
              <a:t>• Kitchen Observation Terminal: </a:t>
            </a:r>
            <a:r>
              <a:rPr sz="950">
                <a:solidFill>
                  <a:srgbClr val="6B5746"/>
                </a:solidFill>
              </a:rPr>
              <a:t>Searchable observation database with keyword filtering, CSV export, and new entry creation form.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3474720" cy="292608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  <a:r>
              <a:rPr sz="900" b="1">
                <a:solidFill>
                  <a:srgbClr val="EA580C"/>
                </a:solidFill>
              </a:rPr>
              <a:t>SECTION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100" b="1">
                <a:solidFill>
                  <a:srgbClr val="2A1B10"/>
                </a:solidFill>
              </a:rPr>
              <a:t>10. Results and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>
                <a:solidFill>
                  <a:srgbClr val="6B5746"/>
                </a:solidFill>
              </a:rPr>
              <a:t>Empirical findings, statistical performance metrics, and operational evaluation.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33832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783080"/>
            <a:ext cx="3383280" cy="731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6596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2A1B10"/>
                </a:solidFill>
              </a:rPr>
              <a:t>Key Statistical Metrics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DC2626"/>
                </a:solidFill>
              </a:rPr>
              <a:t>• Total Baseline Waste: </a:t>
            </a:r>
            <a:r>
              <a:rPr sz="950">
                <a:solidFill>
                  <a:srgbClr val="6B5746"/>
                </a:solidFill>
              </a:rPr>
              <a:t>7,800+ kg wasted out of 51,000+ kg prepared (15.24% cumulative waste rate across 420 observations).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DC2626"/>
                </a:solidFill>
              </a:rPr>
              <a:t>• Pearson Correlation (r): </a:t>
            </a:r>
            <a:r>
              <a:rPr sz="950">
                <a:solidFill>
                  <a:srgbClr val="6B5746"/>
                </a:solidFill>
              </a:rPr>
              <a:t>r = 0.689 indicating strong positive correlation between preparation volume and waste.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DC2626"/>
                </a:solidFill>
              </a:rPr>
              <a:t>• Regression Fit (R²): </a:t>
            </a:r>
            <a:r>
              <a:rPr sz="950">
                <a:solidFill>
                  <a:srgbClr val="6B5746"/>
                </a:solidFill>
              </a:rPr>
              <a:t>R² = 0.474; preparation volume alone explains ~47.4% of total waste variance across facilities.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DC2626"/>
                </a:solidFill>
              </a:rPr>
              <a:t>• Model Equation: </a:t>
            </a:r>
            <a:r>
              <a:rPr sz="950">
                <a:solidFill>
                  <a:srgbClr val="6B5746"/>
                </a:solidFill>
              </a:rPr>
              <a:t>Food_Wasted = 0.1524 * Food_Prepared + 1.28 kg (RMSE = 12.3 kg per session).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783080"/>
            <a:ext cx="33832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783080"/>
            <a:ext cx="3383280" cy="7315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96596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2A1B10"/>
                </a:solidFill>
              </a:rPr>
              <a:t>Empirical Discoveries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EA580C"/>
                </a:solidFill>
              </a:rPr>
              <a:t>• Staple Category Vulnerability: </a:t>
            </a:r>
            <a:r>
              <a:rPr sz="950">
                <a:solidFill>
                  <a:srgbClr val="6B5746"/>
                </a:solidFill>
              </a:rPr>
              <a:t>Rice (24.4%) and Bread (17.3%) comprise 41.7% of all food discarded due to fixed batch cooking sizes.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EA580C"/>
                </a:solidFill>
              </a:rPr>
              <a:t>• Over-Preparation Dominance: </a:t>
            </a:r>
            <a:r>
              <a:rPr sz="950">
                <a:solidFill>
                  <a:srgbClr val="6B5746"/>
                </a:solidFill>
              </a:rPr>
              <a:t>Over-preparation accounts for 48% of total loss, proving pre-service cooking is the primary failure point.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EA580C"/>
                </a:solidFill>
              </a:rPr>
              <a:t>• Hostel Weekend Anomalies: </a:t>
            </a:r>
            <a:r>
              <a:rPr sz="950">
                <a:solidFill>
                  <a:srgbClr val="6B5746"/>
                </a:solidFill>
              </a:rPr>
              <a:t>Hostels produce the highest loss (2,355 kg) with 6 statistical anomaly days exceeding +2σ variation on weekends.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783080"/>
            <a:ext cx="33832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783080"/>
            <a:ext cx="338328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96596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2A1B10"/>
                </a:solidFill>
              </a:rPr>
              <a:t>Intervention Simulation Results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D97706"/>
                </a:solidFill>
              </a:rPr>
              <a:t>• Policy Target Scenario: </a:t>
            </a:r>
            <a:r>
              <a:rPr sz="950">
                <a:solidFill>
                  <a:srgbClr val="6B5746"/>
                </a:solidFill>
              </a:rPr>
              <a:t>Simulating a 15% reduction in over-preparation and 20% cut in plate waste.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D97706"/>
                </a:solidFill>
              </a:rPr>
              <a:t>• Projected Food Rescued: </a:t>
            </a:r>
            <a:r>
              <a:rPr sz="950">
                <a:solidFill>
                  <a:srgbClr val="6B5746"/>
                </a:solidFill>
              </a:rPr>
              <a:t>1,870+ kg of edible food rescued annually per facility.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D97706"/>
                </a:solidFill>
              </a:rPr>
              <a:t>• Financial Cost Saved: </a:t>
            </a:r>
            <a:r>
              <a:rPr sz="950">
                <a:solidFill>
                  <a:srgbClr val="6B5746"/>
                </a:solidFill>
              </a:rPr>
              <a:t>₹1,12,000+ in raw ingredient cost saved per facility per year.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D97706"/>
                </a:solidFill>
              </a:rPr>
              <a:t>• Environmental Abatement: </a:t>
            </a:r>
            <a:r>
              <a:rPr sz="950">
                <a:solidFill>
                  <a:srgbClr val="6B5746"/>
                </a:solidFill>
              </a:rPr>
              <a:t>~4.67 Tons of CO₂e emissions prevented and waste percentage dropped from 15.2% to 9.8%.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3474720" cy="292608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  <a:r>
              <a:rPr sz="900" b="1">
                <a:solidFill>
                  <a:srgbClr val="EA580C"/>
                </a:solidFill>
              </a:rPr>
              <a:t>SECTION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100" b="1">
                <a:solidFill>
                  <a:srgbClr val="2A1B10"/>
                </a:solidFill>
              </a:rPr>
              <a:t>11. Advantages and Applications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>
                <a:solidFill>
                  <a:srgbClr val="6B5746"/>
                </a:solidFill>
              </a:rPr>
              <a:t>Practical operational benefits and cross-industry deployment opportunities.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51206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783080"/>
            <a:ext cx="5120640" cy="73152"/>
          </a:xfrm>
          <a:prstGeom prst="rect">
            <a:avLst/>
          </a:prstGeom>
          <a:solidFill>
            <a:srgbClr val="7C2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7C2D12"/>
                </a:solidFill>
              </a:rPr>
              <a:t>🌟 Key System Advantages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7C2D12"/>
                </a:solidFill>
              </a:rPr>
              <a:t>• Action-Oriented Architecture: </a:t>
            </a:r>
            <a:r>
              <a:rPr sz="950">
                <a:solidFill>
                  <a:srgbClr val="6B5746"/>
                </a:solidFill>
              </a:rPr>
              <a:t>Unlike generic BI dashboards, translates statistical anomalies directly into concrete kitchen protocols.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7C2D12"/>
                </a:solidFill>
              </a:rPr>
              <a:t>• Proactive Forecasting vs Passive History: </a:t>
            </a:r>
            <a:r>
              <a:rPr sz="950">
                <a:solidFill>
                  <a:srgbClr val="6B5746"/>
                </a:solidFill>
              </a:rPr>
              <a:t>ARIMA and EWMA predict consumption 14 days ahead, preventing over-preparation before it occurs.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7C2D12"/>
                </a:solidFill>
              </a:rPr>
              <a:t>• Significant Financial ROI: </a:t>
            </a:r>
            <a:r>
              <a:rPr sz="950">
                <a:solidFill>
                  <a:srgbClr val="6B5746"/>
                </a:solidFill>
              </a:rPr>
              <a:t>Achieves 15–25% waste reduction, recovering ₹1.5–₹2 Lakhs per facility annually with zero hardware capital cost.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7C2D12"/>
                </a:solidFill>
              </a:rPr>
              <a:t>• Carbon &amp; ESG Governance: </a:t>
            </a:r>
            <a:r>
              <a:rPr sz="950">
                <a:solidFill>
                  <a:srgbClr val="6B5746"/>
                </a:solidFill>
              </a:rPr>
              <a:t>Tracks and quantifies greenhouse gas abatement (CO₂e) and meals rescued for sustainability audits.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7C2D12"/>
                </a:solidFill>
              </a:rPr>
              <a:t>• Zero 'Undefined' Visual Elegance: </a:t>
            </a:r>
            <a:r>
              <a:rPr sz="950">
                <a:solidFill>
                  <a:srgbClr val="6B5746"/>
                </a:solidFill>
              </a:rPr>
              <a:t>Robust Plotly formatting, clean card boxes, and culinary bistro styling ensure high user adoption.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783080"/>
            <a:ext cx="51206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783080"/>
            <a:ext cx="5120640" cy="7315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965960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EA580C"/>
                </a:solidFill>
              </a:rPr>
              <a:t>🏢 Practical Real-World Applications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EA580C"/>
                </a:solidFill>
              </a:rPr>
              <a:t>• University &amp; College Hostel Messes: </a:t>
            </a:r>
            <a:r>
              <a:rPr sz="950">
                <a:solidFill>
                  <a:srgbClr val="6B5746"/>
                </a:solidFill>
              </a:rPr>
              <a:t>Calibrating student headcount against leave registers and academic schedules to stop weekend food dumps.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EA580C"/>
                </a:solidFill>
              </a:rPr>
              <a:t>• Corporate &amp; IT Park Cafeterias: </a:t>
            </a:r>
            <a:r>
              <a:rPr sz="950">
                <a:solidFill>
                  <a:srgbClr val="6B5746"/>
                </a:solidFill>
              </a:rPr>
              <a:t>Adjusting meal prep dynamically to hybrid work patterns (e.g. low attendance on Mondays &amp; Fridays).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EA580C"/>
                </a:solidFill>
              </a:rPr>
              <a:t>• Hospital &amp; Healthcare Dietary Units: </a:t>
            </a:r>
            <a:r>
              <a:rPr sz="950">
                <a:solidFill>
                  <a:srgbClr val="6B5746"/>
                </a:solidFill>
              </a:rPr>
              <a:t>Managing strict nutritional portions and perishable ingredient lifecycles to avoid spoilage.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EA580C"/>
                </a:solidFill>
              </a:rPr>
              <a:t>• Commercial Event Catering &amp; Banquets: </a:t>
            </a:r>
            <a:r>
              <a:rPr sz="950">
                <a:solidFill>
                  <a:srgbClr val="6B5746"/>
                </a:solidFill>
              </a:rPr>
              <a:t>Modeling historical guest turnout ratios to right-size bulk prep for weddings and conventions.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EA580C"/>
                </a:solidFill>
              </a:rPr>
              <a:t>• Municipal &amp; NGO Food Redistribution: </a:t>
            </a:r>
            <a:r>
              <a:rPr sz="950">
                <a:solidFill>
                  <a:srgbClr val="6B5746"/>
                </a:solidFill>
              </a:rPr>
              <a:t>Connecting surplus food predictions with local food rescue organizations before expiration.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0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3474720" cy="292608"/>
          </a:xfrm>
          <a:prstGeom prst="roundRect">
            <a:avLst/>
          </a:prstGeom>
          <a:solidFill>
            <a:srgbClr val="2C2018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EA580C"/>
                </a:solidFill>
              </a:rPr>
              <a:t>SECTION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FDF5ED"/>
                </a:solidFill>
              </a:rPr>
              <a:t>12. Conclusion &amp; Future Scope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297680"/>
          </a:xfrm>
          <a:prstGeom prst="roundRect">
            <a:avLst/>
          </a:prstGeom>
          <a:solidFill>
            <a:srgbClr val="1B1511"/>
          </a:solidFill>
          <a:ln w="19050">
            <a:solidFill>
              <a:srgbClr val="3D2D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554480"/>
            <a:ext cx="45720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EA580C"/>
                </a:solidFill>
              </a:rPr>
              <a:t>🎯 Project Conclusion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EA580C"/>
                </a:solidFill>
              </a:rPr>
              <a:t>• Bridging Data to Operations: </a:t>
            </a:r>
            <a:r>
              <a:rPr sz="950">
                <a:solidFill>
                  <a:srgbClr val="BFAFA2"/>
                </a:solidFill>
              </a:rPr>
              <a:t>Successfully created an end-to-end DAV platform that converts static meal records into active kitchen interventions.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EA580C"/>
                </a:solidFill>
              </a:rPr>
              <a:t>• Validated Hypothesis: </a:t>
            </a:r>
            <a:r>
              <a:rPr sz="950">
                <a:solidFill>
                  <a:srgbClr val="BFAFA2"/>
                </a:solidFill>
              </a:rPr>
              <a:t>Proved that over-preparation (48%) and volatile staples (Rice/Bread: 41.7%) represent the primary levers for institutional waste reduction.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EA580C"/>
                </a:solidFill>
              </a:rPr>
              <a:t>• Proven Analytical Soundness: </a:t>
            </a:r>
            <a:r>
              <a:rPr sz="950">
                <a:solidFill>
                  <a:srgbClr val="BFAFA2"/>
                </a:solidFill>
              </a:rPr>
              <a:t>Combined linear regression (r=0.689, R²=0.474) with ARIMA(1,1,1) forward projections and interactive 'What-If' simulation.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EA580C"/>
                </a:solidFill>
              </a:rPr>
              <a:t>• Real-World Impact: </a:t>
            </a:r>
            <a:r>
              <a:rPr sz="950">
                <a:solidFill>
                  <a:srgbClr val="BFAFA2"/>
                </a:solidFill>
              </a:rPr>
              <a:t>Delivers an actionable pathway to achieve 15–25% waste reduction and save over ₹1.5 Lakhs annually per facility.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371600"/>
            <a:ext cx="5120640" cy="4297680"/>
          </a:xfrm>
          <a:prstGeom prst="roundRect">
            <a:avLst/>
          </a:prstGeom>
          <a:solidFill>
            <a:srgbClr val="1B1511"/>
          </a:solidFill>
          <a:ln w="19050">
            <a:solidFill>
              <a:srgbClr val="3D2D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554480"/>
            <a:ext cx="45720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D97706"/>
                </a:solidFill>
              </a:rPr>
              <a:t>🚀 Future Scope &amp; Technological Roadmap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D97706"/>
                </a:solidFill>
              </a:rPr>
              <a:t>• IoT Smart Weighing Bins: </a:t>
            </a:r>
            <a:r>
              <a:rPr sz="950">
                <a:solidFill>
                  <a:srgbClr val="BFAFA2"/>
                </a:solidFill>
              </a:rPr>
              <a:t>Deploying load-cell digital smart bins at plate drop-off stations to log real-time plate waste automatically.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D97706"/>
                </a:solidFill>
              </a:rPr>
              <a:t>• Computer Vision Tray Scanners: </a:t>
            </a:r>
            <a:r>
              <a:rPr sz="950">
                <a:solidFill>
                  <a:srgbClr val="BFAFA2"/>
                </a:solidFill>
              </a:rPr>
              <a:t>Utilizing YOLO/ResNet deep learning models on conveyor cameras to automatically classify and weigh uneaten food categories.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D97706"/>
                </a:solidFill>
              </a:rPr>
              <a:t>• Biometric Turnstile API Sync: </a:t>
            </a:r>
            <a:r>
              <a:rPr sz="950">
                <a:solidFill>
                  <a:srgbClr val="BFAFA2"/>
                </a:solidFill>
              </a:rPr>
              <a:t>Connecting campus gate access and student RFID turnstiles directly to kitchen requisitions 2 hours before meal prep.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D97706"/>
                </a:solidFill>
              </a:rPr>
              <a:t>• Automated NGO Redistribution Dispatch: </a:t>
            </a:r>
            <a:r>
              <a:rPr sz="950">
                <a:solidFill>
                  <a:srgbClr val="BFAFA2"/>
                </a:solidFill>
              </a:rPr>
              <a:t>Integrating automated alerts with local food rescue charities when surplus exceeds 15 kg of wholesome food.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806440"/>
            <a:ext cx="10698480" cy="640080"/>
          </a:xfrm>
          <a:prstGeom prst="roundRect">
            <a:avLst/>
          </a:prstGeom>
          <a:solidFill>
            <a:srgbClr val="2C2018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DF5ED"/>
                </a:solidFill>
              </a:rPr>
              <a:t>Thank You! Questions &amp; Discussion  |  Food Waste Analytics and Management System (DAV Project)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